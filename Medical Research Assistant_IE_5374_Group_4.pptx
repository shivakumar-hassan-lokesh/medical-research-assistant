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18288000" cy="10287000"/>
  <p:notesSz cx="6858000" cy="9144000"/>
  <p:embeddedFontLst>
    <p:embeddedFont>
      <p:font typeface="Canva Sans" panose="020B0503030501040103" pitchFamily="34" charset="0"/>
      <p:regular r:id="rId12"/>
    </p:embeddedFont>
    <p:embeddedFont>
      <p:font typeface="Canva Sans Bold" panose="020B0803030501040103" pitchFamily="34" charset="0"/>
      <p:regular r:id="rId13"/>
      <p:bold r:id="rId14"/>
    </p:embeddedFont>
    <p:embeddedFont>
      <p:font typeface="Century" panose="02040604050505020304" pitchFamily="18" charset="0"/>
      <p:regular r:id="rId15"/>
    </p:embeddedFont>
    <p:embeddedFont>
      <p:font typeface="Montserrat" pitchFamily="2" charset="77"/>
      <p:regular r:id="rId16"/>
      <p:bold r:id="rId17"/>
      <p:italic r:id="rId18"/>
      <p:boldItalic r:id="rId19"/>
    </p:embeddedFont>
    <p:embeddedFont>
      <p:font typeface="Montserrat Bold" pitchFamily="2" charset="77"/>
      <p:regular r:id="rId20"/>
      <p:bold r:id="rId21"/>
    </p:embeddedFont>
    <p:embeddedFont>
      <p:font typeface="Montserrat Ultra-Bold" pitchFamily="2" charset="77"/>
      <p:regular r:id="rId22"/>
      <p:bold r:id="rId23"/>
    </p:embeddedFont>
    <p:embeddedFont>
      <p:font typeface="Poppins Light" panose="020B0604020202020204" pitchFamily="34" charset="0"/>
      <p:regular r:id="rId24"/>
      <p:italic r:id="rId25"/>
    </p:embeddedFont>
    <p:embeddedFont>
      <p:font typeface="Poppins Medium" panose="020B0604020202020204" pitchFamily="34" charset="0"/>
      <p:regular r:id="rId26"/>
      <p:italic r:id="rId27"/>
    </p:embeddedFont>
    <p:embeddedFont>
      <p:font typeface="TAN Headline" pitchFamily="2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2" autoAdjust="0"/>
    <p:restoredTop sz="91583" autoAdjust="0"/>
  </p:normalViewPr>
  <p:slideViewPr>
    <p:cSldViewPr>
      <p:cViewPr varScale="1">
        <p:scale>
          <a:sx n="74" d="100"/>
          <a:sy n="74" d="100"/>
        </p:scale>
        <p:origin x="704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3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font" Target="fonts/font17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font" Target="fonts/font16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jpe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6.png"/><Relationship Id="rId7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7ADAF">
                <a:alpha val="100000"/>
              </a:srgbClr>
            </a:gs>
            <a:gs pos="25000">
              <a:srgbClr val="004C73">
                <a:alpha val="100000"/>
              </a:srgbClr>
            </a:gs>
            <a:gs pos="50000">
              <a:srgbClr val="004C73">
                <a:alpha val="100000"/>
              </a:srgbClr>
            </a:gs>
            <a:gs pos="75000">
              <a:srgbClr val="004B72">
                <a:alpha val="100000"/>
              </a:srgbClr>
            </a:gs>
            <a:gs pos="100000">
              <a:srgbClr val="004B72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21446" y="6179386"/>
            <a:ext cx="3376411" cy="751704"/>
            <a:chOff x="0" y="0"/>
            <a:chExt cx="889261" cy="1979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89261" cy="197980"/>
            </a:xfrm>
            <a:custGeom>
              <a:avLst/>
              <a:gdLst/>
              <a:ahLst/>
              <a:cxnLst/>
              <a:rect l="l" t="t" r="r" b="b"/>
              <a:pathLst>
                <a:path w="889261" h="197980">
                  <a:moveTo>
                    <a:pt x="98990" y="0"/>
                  </a:moveTo>
                  <a:lnTo>
                    <a:pt x="790271" y="0"/>
                  </a:lnTo>
                  <a:cubicBezTo>
                    <a:pt x="844941" y="0"/>
                    <a:pt x="889261" y="44319"/>
                    <a:pt x="889261" y="98990"/>
                  </a:cubicBezTo>
                  <a:lnTo>
                    <a:pt x="889261" y="98990"/>
                  </a:lnTo>
                  <a:cubicBezTo>
                    <a:pt x="889261" y="125244"/>
                    <a:pt x="878831" y="150422"/>
                    <a:pt x="860267" y="168986"/>
                  </a:cubicBezTo>
                  <a:cubicBezTo>
                    <a:pt x="841703" y="187550"/>
                    <a:pt x="816524" y="197980"/>
                    <a:pt x="790271" y="197980"/>
                  </a:cubicBezTo>
                  <a:lnTo>
                    <a:pt x="98990" y="197980"/>
                  </a:lnTo>
                  <a:cubicBezTo>
                    <a:pt x="44319" y="197980"/>
                    <a:pt x="0" y="153660"/>
                    <a:pt x="0" y="98990"/>
                  </a:cubicBezTo>
                  <a:lnTo>
                    <a:pt x="0" y="98990"/>
                  </a:lnTo>
                  <a:cubicBezTo>
                    <a:pt x="0" y="44319"/>
                    <a:pt x="44319" y="0"/>
                    <a:pt x="98990" y="0"/>
                  </a:cubicBezTo>
                  <a:close/>
                </a:path>
              </a:pathLst>
            </a:custGeom>
            <a:solidFill>
              <a:srgbClr val="5CE1E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889261" cy="2551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59"/>
                </a:lnSpc>
                <a:spcBef>
                  <a:spcPct val="0"/>
                </a:spcBef>
              </a:pPr>
              <a:r>
                <a:rPr lang="en-US" sz="28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Group 4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17003037" y="-16267"/>
            <a:ext cx="1261695" cy="1261695"/>
          </a:xfrm>
          <a:custGeom>
            <a:avLst/>
            <a:gdLst/>
            <a:ahLst/>
            <a:cxnLst/>
            <a:rect l="l" t="t" r="r" b="b"/>
            <a:pathLst>
              <a:path w="1261695" h="1261695">
                <a:moveTo>
                  <a:pt x="0" y="0"/>
                </a:moveTo>
                <a:lnTo>
                  <a:pt x="1261696" y="0"/>
                </a:lnTo>
                <a:lnTo>
                  <a:pt x="1261696" y="1261695"/>
                </a:lnTo>
                <a:lnTo>
                  <a:pt x="0" y="12616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352251" y="8506596"/>
            <a:ext cx="2761903" cy="2761903"/>
          </a:xfrm>
          <a:custGeom>
            <a:avLst/>
            <a:gdLst/>
            <a:ahLst/>
            <a:cxnLst/>
            <a:rect l="l" t="t" r="r" b="b"/>
            <a:pathLst>
              <a:path w="2761903" h="2761903">
                <a:moveTo>
                  <a:pt x="0" y="0"/>
                </a:moveTo>
                <a:lnTo>
                  <a:pt x="2761902" y="0"/>
                </a:lnTo>
                <a:lnTo>
                  <a:pt x="2761902" y="2761902"/>
                </a:lnTo>
                <a:lnTo>
                  <a:pt x="0" y="27619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0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6094803" y="-924501"/>
            <a:ext cx="3078164" cy="3078164"/>
          </a:xfrm>
          <a:custGeom>
            <a:avLst/>
            <a:gdLst/>
            <a:ahLst/>
            <a:cxnLst/>
            <a:rect l="l" t="t" r="r" b="b"/>
            <a:pathLst>
              <a:path w="3078164" h="3078164">
                <a:moveTo>
                  <a:pt x="0" y="0"/>
                </a:moveTo>
                <a:lnTo>
                  <a:pt x="3078164" y="0"/>
                </a:lnTo>
                <a:lnTo>
                  <a:pt x="3078164" y="3078164"/>
                </a:lnTo>
                <a:lnTo>
                  <a:pt x="0" y="30781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0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9395883" y="5816652"/>
            <a:ext cx="8868849" cy="2860056"/>
            <a:chOff x="0" y="0"/>
            <a:chExt cx="2400092" cy="4511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00092" cy="451180"/>
            </a:xfrm>
            <a:custGeom>
              <a:avLst/>
              <a:gdLst/>
              <a:ahLst/>
              <a:cxnLst/>
              <a:rect l="l" t="t" r="r" b="b"/>
              <a:pathLst>
                <a:path w="2400092" h="451180">
                  <a:moveTo>
                    <a:pt x="50886" y="0"/>
                  </a:moveTo>
                  <a:lnTo>
                    <a:pt x="2349207" y="0"/>
                  </a:lnTo>
                  <a:cubicBezTo>
                    <a:pt x="2362702" y="0"/>
                    <a:pt x="2375645" y="5361"/>
                    <a:pt x="2385188" y="14904"/>
                  </a:cubicBezTo>
                  <a:cubicBezTo>
                    <a:pt x="2394731" y="24447"/>
                    <a:pt x="2400092" y="37390"/>
                    <a:pt x="2400092" y="50886"/>
                  </a:cubicBezTo>
                  <a:lnTo>
                    <a:pt x="2400092" y="400295"/>
                  </a:lnTo>
                  <a:cubicBezTo>
                    <a:pt x="2400092" y="413790"/>
                    <a:pt x="2394731" y="426733"/>
                    <a:pt x="2385188" y="436276"/>
                  </a:cubicBezTo>
                  <a:cubicBezTo>
                    <a:pt x="2375645" y="445819"/>
                    <a:pt x="2362702" y="451180"/>
                    <a:pt x="2349207" y="451180"/>
                  </a:cubicBezTo>
                  <a:lnTo>
                    <a:pt x="50886" y="451180"/>
                  </a:lnTo>
                  <a:cubicBezTo>
                    <a:pt x="22782" y="451180"/>
                    <a:pt x="0" y="428398"/>
                    <a:pt x="0" y="400295"/>
                  </a:cubicBezTo>
                  <a:lnTo>
                    <a:pt x="0" y="50886"/>
                  </a:lnTo>
                  <a:cubicBezTo>
                    <a:pt x="0" y="22782"/>
                    <a:pt x="22782" y="0"/>
                    <a:pt x="50886" y="0"/>
                  </a:cubicBezTo>
                  <a:close/>
                </a:path>
              </a:pathLst>
            </a:custGeom>
            <a:blipFill>
              <a:blip r:embed="rId6"/>
              <a:stretch>
                <a:fillRect t="-174361" b="-8005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Freeform 10"/>
          <p:cNvSpPr/>
          <p:nvPr/>
        </p:nvSpPr>
        <p:spPr>
          <a:xfrm>
            <a:off x="0" y="0"/>
            <a:ext cx="4330006" cy="1352555"/>
          </a:xfrm>
          <a:custGeom>
            <a:avLst/>
            <a:gdLst/>
            <a:ahLst/>
            <a:cxnLst/>
            <a:rect l="l" t="t" r="r" b="b"/>
            <a:pathLst>
              <a:path w="4330006" h="1352555">
                <a:moveTo>
                  <a:pt x="0" y="0"/>
                </a:moveTo>
                <a:lnTo>
                  <a:pt x="4330006" y="0"/>
                </a:lnTo>
                <a:lnTo>
                  <a:pt x="4330006" y="1352555"/>
                </a:lnTo>
                <a:lnTo>
                  <a:pt x="0" y="13525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477" b="-47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3253703" y="1929080"/>
            <a:ext cx="12284358" cy="1843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8"/>
              </a:lnSpc>
            </a:pPr>
            <a:r>
              <a:rPr lang="en-US" sz="6600" b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MEDICAL RESEARCH ASSISTANT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152098" y="3967023"/>
            <a:ext cx="6487567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Evidence-grounded answers from medical PDFs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endParaRPr lang="en-US" sz="2199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51421" y="7350190"/>
            <a:ext cx="4804563" cy="1603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5"/>
              </a:lnSpc>
              <a:spcBef>
                <a:spcPct val="0"/>
              </a:spcBef>
            </a:pPr>
            <a:r>
              <a:rPr lang="en-US" sz="2748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•Nishchay Linge Gowda</a:t>
            </a:r>
          </a:p>
          <a:p>
            <a:pPr algn="l">
              <a:lnSpc>
                <a:spcPts val="4315"/>
              </a:lnSpc>
              <a:spcBef>
                <a:spcPct val="0"/>
              </a:spcBef>
            </a:pPr>
            <a:r>
              <a:rPr lang="en-US" sz="2748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•Shivakumar Hassan Lokesh</a:t>
            </a:r>
          </a:p>
          <a:p>
            <a:pPr algn="l">
              <a:lnSpc>
                <a:spcPts val="4315"/>
              </a:lnSpc>
              <a:spcBef>
                <a:spcPct val="0"/>
              </a:spcBef>
            </a:pPr>
            <a:r>
              <a:rPr lang="en-US" sz="2748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•Supriya Singh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811000" y="9346306"/>
            <a:ext cx="6303969" cy="5412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11"/>
              </a:lnSpc>
              <a:spcBef>
                <a:spcPct val="0"/>
              </a:spcBef>
            </a:pPr>
            <a:r>
              <a:rPr lang="en-US" sz="2873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IE 5374 - Applied Generative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528272" y="3528671"/>
            <a:ext cx="10397969" cy="7525950"/>
          </a:xfrm>
          <a:custGeom>
            <a:avLst/>
            <a:gdLst/>
            <a:ahLst/>
            <a:cxnLst/>
            <a:rect l="l" t="t" r="r" b="b"/>
            <a:pathLst>
              <a:path w="10397969" h="7525950">
                <a:moveTo>
                  <a:pt x="0" y="0"/>
                </a:moveTo>
                <a:lnTo>
                  <a:pt x="10397970" y="0"/>
                </a:lnTo>
                <a:lnTo>
                  <a:pt x="10397970" y="7525949"/>
                </a:lnTo>
                <a:lnTo>
                  <a:pt x="0" y="75259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3725809"/>
            <a:ext cx="6561191" cy="6561191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3"/>
              <a:stretch>
                <a:fillRect l="-25342" r="-2534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18003559" y="0"/>
            <a:ext cx="568882" cy="568882"/>
          </a:xfrm>
          <a:custGeom>
            <a:avLst/>
            <a:gdLst/>
            <a:ahLst/>
            <a:cxnLst/>
            <a:rect l="l" t="t" r="r" b="b"/>
            <a:pathLst>
              <a:path w="568882" h="568882">
                <a:moveTo>
                  <a:pt x="0" y="0"/>
                </a:moveTo>
                <a:lnTo>
                  <a:pt x="568882" y="0"/>
                </a:lnTo>
                <a:lnTo>
                  <a:pt x="568882" y="568882"/>
                </a:lnTo>
                <a:lnTo>
                  <a:pt x="0" y="5688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7589603" y="7616914"/>
            <a:ext cx="8627705" cy="1046913"/>
            <a:chOff x="0" y="0"/>
            <a:chExt cx="2272317" cy="27573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72318" cy="275730"/>
            </a:xfrm>
            <a:custGeom>
              <a:avLst/>
              <a:gdLst/>
              <a:ahLst/>
              <a:cxnLst/>
              <a:rect l="l" t="t" r="r" b="b"/>
              <a:pathLst>
                <a:path w="2272318" h="275730">
                  <a:moveTo>
                    <a:pt x="45764" y="0"/>
                  </a:moveTo>
                  <a:lnTo>
                    <a:pt x="2226554" y="0"/>
                  </a:lnTo>
                  <a:cubicBezTo>
                    <a:pt x="2238691" y="0"/>
                    <a:pt x="2250331" y="4822"/>
                    <a:pt x="2258913" y="13404"/>
                  </a:cubicBezTo>
                  <a:cubicBezTo>
                    <a:pt x="2267496" y="21986"/>
                    <a:pt x="2272318" y="33627"/>
                    <a:pt x="2272318" y="45764"/>
                  </a:cubicBezTo>
                  <a:lnTo>
                    <a:pt x="2272318" y="229966"/>
                  </a:lnTo>
                  <a:cubicBezTo>
                    <a:pt x="2272318" y="242104"/>
                    <a:pt x="2267496" y="253744"/>
                    <a:pt x="2258913" y="262326"/>
                  </a:cubicBezTo>
                  <a:cubicBezTo>
                    <a:pt x="2250331" y="270909"/>
                    <a:pt x="2238691" y="275730"/>
                    <a:pt x="2226554" y="275730"/>
                  </a:cubicBezTo>
                  <a:lnTo>
                    <a:pt x="45764" y="275730"/>
                  </a:lnTo>
                  <a:cubicBezTo>
                    <a:pt x="33627" y="275730"/>
                    <a:pt x="21986" y="270909"/>
                    <a:pt x="13404" y="262326"/>
                  </a:cubicBezTo>
                  <a:cubicBezTo>
                    <a:pt x="4822" y="253744"/>
                    <a:pt x="0" y="242104"/>
                    <a:pt x="0" y="229966"/>
                  </a:cubicBezTo>
                  <a:lnTo>
                    <a:pt x="0" y="45764"/>
                  </a:lnTo>
                  <a:cubicBezTo>
                    <a:pt x="0" y="33627"/>
                    <a:pt x="4822" y="21986"/>
                    <a:pt x="13404" y="13404"/>
                  </a:cubicBezTo>
                  <a:cubicBezTo>
                    <a:pt x="21986" y="4822"/>
                    <a:pt x="33627" y="0"/>
                    <a:pt x="4576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7ADAF">
                    <a:alpha val="100000"/>
                  </a:srgbClr>
                </a:gs>
                <a:gs pos="25000">
                  <a:srgbClr val="004C73">
                    <a:alpha val="100000"/>
                  </a:srgbClr>
                </a:gs>
                <a:gs pos="50000">
                  <a:srgbClr val="004C73">
                    <a:alpha val="100000"/>
                  </a:srgbClr>
                </a:gs>
                <a:gs pos="75000">
                  <a:srgbClr val="004B72">
                    <a:alpha val="100000"/>
                  </a:srgbClr>
                </a:gs>
                <a:gs pos="100000">
                  <a:srgbClr val="004B72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272317" cy="3233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229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Medical content demands precision and clear evidence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89603" y="3508793"/>
            <a:ext cx="8492643" cy="1076748"/>
            <a:chOff x="0" y="0"/>
            <a:chExt cx="2236745" cy="28358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36745" cy="283588"/>
            </a:xfrm>
            <a:custGeom>
              <a:avLst/>
              <a:gdLst/>
              <a:ahLst/>
              <a:cxnLst/>
              <a:rect l="l" t="t" r="r" b="b"/>
              <a:pathLst>
                <a:path w="2236745" h="283588">
                  <a:moveTo>
                    <a:pt x="46492" y="0"/>
                  </a:moveTo>
                  <a:lnTo>
                    <a:pt x="2190254" y="0"/>
                  </a:lnTo>
                  <a:cubicBezTo>
                    <a:pt x="2202584" y="0"/>
                    <a:pt x="2214409" y="4898"/>
                    <a:pt x="2223128" y="13617"/>
                  </a:cubicBezTo>
                  <a:cubicBezTo>
                    <a:pt x="2231847" y="22336"/>
                    <a:pt x="2236745" y="34161"/>
                    <a:pt x="2236745" y="46492"/>
                  </a:cubicBezTo>
                  <a:lnTo>
                    <a:pt x="2236745" y="237096"/>
                  </a:lnTo>
                  <a:cubicBezTo>
                    <a:pt x="2236745" y="249426"/>
                    <a:pt x="2231847" y="261252"/>
                    <a:pt x="2223128" y="269971"/>
                  </a:cubicBezTo>
                  <a:cubicBezTo>
                    <a:pt x="2214409" y="278690"/>
                    <a:pt x="2202584" y="283588"/>
                    <a:pt x="2190254" y="283588"/>
                  </a:cubicBezTo>
                  <a:lnTo>
                    <a:pt x="46492" y="283588"/>
                  </a:lnTo>
                  <a:cubicBezTo>
                    <a:pt x="34161" y="283588"/>
                    <a:pt x="22336" y="278690"/>
                    <a:pt x="13617" y="269971"/>
                  </a:cubicBezTo>
                  <a:cubicBezTo>
                    <a:pt x="4898" y="261252"/>
                    <a:pt x="0" y="249426"/>
                    <a:pt x="0" y="237096"/>
                  </a:cubicBezTo>
                  <a:lnTo>
                    <a:pt x="0" y="46492"/>
                  </a:lnTo>
                  <a:cubicBezTo>
                    <a:pt x="0" y="34161"/>
                    <a:pt x="4898" y="22336"/>
                    <a:pt x="13617" y="13617"/>
                  </a:cubicBezTo>
                  <a:cubicBezTo>
                    <a:pt x="22336" y="4898"/>
                    <a:pt x="34161" y="0"/>
                    <a:pt x="4649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7ADAF">
                    <a:alpha val="100000"/>
                  </a:srgbClr>
                </a:gs>
                <a:gs pos="25000">
                  <a:srgbClr val="004C73">
                    <a:alpha val="100000"/>
                  </a:srgbClr>
                </a:gs>
                <a:gs pos="50000">
                  <a:srgbClr val="004C73">
                    <a:alpha val="100000"/>
                  </a:srgbClr>
                </a:gs>
                <a:gs pos="75000">
                  <a:srgbClr val="004B72">
                    <a:alpha val="100000"/>
                  </a:srgbClr>
                </a:gs>
                <a:gs pos="100000">
                  <a:srgbClr val="004B72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236745" cy="321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39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Medical PDFs are long and difficult to navigate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589603" y="4899866"/>
            <a:ext cx="8627705" cy="1033919"/>
            <a:chOff x="0" y="0"/>
            <a:chExt cx="2272317" cy="27230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72318" cy="272308"/>
            </a:xfrm>
            <a:custGeom>
              <a:avLst/>
              <a:gdLst/>
              <a:ahLst/>
              <a:cxnLst/>
              <a:rect l="l" t="t" r="r" b="b"/>
              <a:pathLst>
                <a:path w="2272318" h="272308">
                  <a:moveTo>
                    <a:pt x="45764" y="0"/>
                  </a:moveTo>
                  <a:lnTo>
                    <a:pt x="2226554" y="0"/>
                  </a:lnTo>
                  <a:cubicBezTo>
                    <a:pt x="2238691" y="0"/>
                    <a:pt x="2250331" y="4822"/>
                    <a:pt x="2258913" y="13404"/>
                  </a:cubicBezTo>
                  <a:cubicBezTo>
                    <a:pt x="2267496" y="21986"/>
                    <a:pt x="2272318" y="33627"/>
                    <a:pt x="2272318" y="45764"/>
                  </a:cubicBezTo>
                  <a:lnTo>
                    <a:pt x="2272318" y="226544"/>
                  </a:lnTo>
                  <a:cubicBezTo>
                    <a:pt x="2272318" y="238681"/>
                    <a:pt x="2267496" y="250321"/>
                    <a:pt x="2258913" y="258904"/>
                  </a:cubicBezTo>
                  <a:cubicBezTo>
                    <a:pt x="2250331" y="267486"/>
                    <a:pt x="2238691" y="272308"/>
                    <a:pt x="2226554" y="272308"/>
                  </a:cubicBezTo>
                  <a:lnTo>
                    <a:pt x="45764" y="272308"/>
                  </a:lnTo>
                  <a:cubicBezTo>
                    <a:pt x="33627" y="272308"/>
                    <a:pt x="21986" y="267486"/>
                    <a:pt x="13404" y="258904"/>
                  </a:cubicBezTo>
                  <a:cubicBezTo>
                    <a:pt x="4822" y="250321"/>
                    <a:pt x="0" y="238681"/>
                    <a:pt x="0" y="226544"/>
                  </a:cubicBezTo>
                  <a:lnTo>
                    <a:pt x="0" y="45764"/>
                  </a:lnTo>
                  <a:cubicBezTo>
                    <a:pt x="0" y="33627"/>
                    <a:pt x="4822" y="21986"/>
                    <a:pt x="13404" y="13404"/>
                  </a:cubicBezTo>
                  <a:cubicBezTo>
                    <a:pt x="21986" y="4822"/>
                    <a:pt x="33627" y="0"/>
                    <a:pt x="4576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7ADAF">
                    <a:alpha val="100000"/>
                  </a:srgbClr>
                </a:gs>
                <a:gs pos="25000">
                  <a:srgbClr val="004C73">
                    <a:alpha val="100000"/>
                  </a:srgbClr>
                </a:gs>
                <a:gs pos="50000">
                  <a:srgbClr val="004C73">
                    <a:alpha val="100000"/>
                  </a:srgbClr>
                </a:gs>
                <a:gs pos="75000">
                  <a:srgbClr val="004B72">
                    <a:alpha val="100000"/>
                  </a:srgbClr>
                </a:gs>
                <a:gs pos="100000">
                  <a:srgbClr val="004B72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272317" cy="3104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39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Manual extraction of key information is slow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589603" y="6219534"/>
            <a:ext cx="8627705" cy="1167870"/>
            <a:chOff x="0" y="0"/>
            <a:chExt cx="2272317" cy="30758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272318" cy="307587"/>
            </a:xfrm>
            <a:custGeom>
              <a:avLst/>
              <a:gdLst/>
              <a:ahLst/>
              <a:cxnLst/>
              <a:rect l="l" t="t" r="r" b="b"/>
              <a:pathLst>
                <a:path w="2272318" h="307587">
                  <a:moveTo>
                    <a:pt x="45764" y="0"/>
                  </a:moveTo>
                  <a:lnTo>
                    <a:pt x="2226554" y="0"/>
                  </a:lnTo>
                  <a:cubicBezTo>
                    <a:pt x="2238691" y="0"/>
                    <a:pt x="2250331" y="4822"/>
                    <a:pt x="2258913" y="13404"/>
                  </a:cubicBezTo>
                  <a:cubicBezTo>
                    <a:pt x="2267496" y="21986"/>
                    <a:pt x="2272318" y="33627"/>
                    <a:pt x="2272318" y="45764"/>
                  </a:cubicBezTo>
                  <a:lnTo>
                    <a:pt x="2272318" y="261823"/>
                  </a:lnTo>
                  <a:cubicBezTo>
                    <a:pt x="2272318" y="287098"/>
                    <a:pt x="2251828" y="307587"/>
                    <a:pt x="2226554" y="307587"/>
                  </a:cubicBezTo>
                  <a:lnTo>
                    <a:pt x="45764" y="307587"/>
                  </a:lnTo>
                  <a:cubicBezTo>
                    <a:pt x="33627" y="307587"/>
                    <a:pt x="21986" y="302766"/>
                    <a:pt x="13404" y="294183"/>
                  </a:cubicBezTo>
                  <a:cubicBezTo>
                    <a:pt x="4822" y="285601"/>
                    <a:pt x="0" y="273961"/>
                    <a:pt x="0" y="261823"/>
                  </a:cubicBezTo>
                  <a:lnTo>
                    <a:pt x="0" y="45764"/>
                  </a:lnTo>
                  <a:cubicBezTo>
                    <a:pt x="0" y="33627"/>
                    <a:pt x="4822" y="21986"/>
                    <a:pt x="13404" y="13404"/>
                  </a:cubicBezTo>
                  <a:cubicBezTo>
                    <a:pt x="21986" y="4822"/>
                    <a:pt x="33627" y="0"/>
                    <a:pt x="4576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7ADAF">
                    <a:alpha val="100000"/>
                  </a:srgbClr>
                </a:gs>
                <a:gs pos="25000">
                  <a:srgbClr val="004C73">
                    <a:alpha val="100000"/>
                  </a:srgbClr>
                </a:gs>
                <a:gs pos="50000">
                  <a:srgbClr val="004C73">
                    <a:alpha val="100000"/>
                  </a:srgbClr>
                </a:gs>
                <a:gs pos="75000">
                  <a:srgbClr val="004B72">
                    <a:alpha val="100000"/>
                  </a:srgbClr>
                </a:gs>
                <a:gs pos="100000">
                  <a:srgbClr val="004B72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2272317" cy="3552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r>
                <a:rPr lang="en-US" sz="229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Users need quick, accurate answers backed by documents</a:t>
              </a:r>
            </a:p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endParaRPr lang="en-US" sz="22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</p:txBody>
        </p:sp>
      </p:grpSp>
      <p:sp>
        <p:nvSpPr>
          <p:cNvPr id="19" name="Freeform 19"/>
          <p:cNvSpPr/>
          <p:nvPr/>
        </p:nvSpPr>
        <p:spPr>
          <a:xfrm>
            <a:off x="0" y="0"/>
            <a:ext cx="4330006" cy="1352555"/>
          </a:xfrm>
          <a:custGeom>
            <a:avLst/>
            <a:gdLst/>
            <a:ahLst/>
            <a:cxnLst/>
            <a:rect l="l" t="t" r="r" b="b"/>
            <a:pathLst>
              <a:path w="4330006" h="1352555">
                <a:moveTo>
                  <a:pt x="0" y="0"/>
                </a:moveTo>
                <a:lnTo>
                  <a:pt x="4330006" y="0"/>
                </a:lnTo>
                <a:lnTo>
                  <a:pt x="4330006" y="1352555"/>
                </a:lnTo>
                <a:lnTo>
                  <a:pt x="0" y="13525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477" b="-47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6917126" y="1329741"/>
            <a:ext cx="10342174" cy="954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1"/>
              </a:lnSpc>
            </a:pPr>
            <a:r>
              <a:rPr lang="en-US" sz="7199" b="1">
                <a:solidFill>
                  <a:srgbClr val="001A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719118" y="76222"/>
            <a:ext cx="568882" cy="568882"/>
          </a:xfrm>
          <a:custGeom>
            <a:avLst/>
            <a:gdLst/>
            <a:ahLst/>
            <a:cxnLst/>
            <a:rect l="l" t="t" r="r" b="b"/>
            <a:pathLst>
              <a:path w="568882" h="568882">
                <a:moveTo>
                  <a:pt x="0" y="0"/>
                </a:moveTo>
                <a:lnTo>
                  <a:pt x="568882" y="0"/>
                </a:lnTo>
                <a:lnTo>
                  <a:pt x="568882" y="568882"/>
                </a:lnTo>
                <a:lnTo>
                  <a:pt x="0" y="5688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4330006" y="7720126"/>
            <a:ext cx="9948631" cy="902461"/>
            <a:chOff x="0" y="0"/>
            <a:chExt cx="2620216" cy="23768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620216" cy="237685"/>
            </a:xfrm>
            <a:custGeom>
              <a:avLst/>
              <a:gdLst/>
              <a:ahLst/>
              <a:cxnLst/>
              <a:rect l="l" t="t" r="r" b="b"/>
              <a:pathLst>
                <a:path w="2620216" h="237685">
                  <a:moveTo>
                    <a:pt x="39688" y="0"/>
                  </a:moveTo>
                  <a:lnTo>
                    <a:pt x="2580528" y="0"/>
                  </a:lnTo>
                  <a:cubicBezTo>
                    <a:pt x="2591054" y="0"/>
                    <a:pt x="2601149" y="4181"/>
                    <a:pt x="2608591" y="11624"/>
                  </a:cubicBezTo>
                  <a:cubicBezTo>
                    <a:pt x="2616034" y="19067"/>
                    <a:pt x="2620216" y="29162"/>
                    <a:pt x="2620216" y="39688"/>
                  </a:cubicBezTo>
                  <a:lnTo>
                    <a:pt x="2620216" y="197998"/>
                  </a:lnTo>
                  <a:cubicBezTo>
                    <a:pt x="2620216" y="208523"/>
                    <a:pt x="2616034" y="218618"/>
                    <a:pt x="2608591" y="226061"/>
                  </a:cubicBezTo>
                  <a:cubicBezTo>
                    <a:pt x="2601149" y="233504"/>
                    <a:pt x="2591054" y="237685"/>
                    <a:pt x="2580528" y="237685"/>
                  </a:cubicBezTo>
                  <a:lnTo>
                    <a:pt x="39688" y="237685"/>
                  </a:lnTo>
                  <a:cubicBezTo>
                    <a:pt x="29162" y="237685"/>
                    <a:pt x="19067" y="233504"/>
                    <a:pt x="11624" y="226061"/>
                  </a:cubicBezTo>
                  <a:cubicBezTo>
                    <a:pt x="4181" y="218618"/>
                    <a:pt x="0" y="208523"/>
                    <a:pt x="0" y="197998"/>
                  </a:cubicBezTo>
                  <a:lnTo>
                    <a:pt x="0" y="39688"/>
                  </a:lnTo>
                  <a:cubicBezTo>
                    <a:pt x="0" y="29162"/>
                    <a:pt x="4181" y="19067"/>
                    <a:pt x="11624" y="11624"/>
                  </a:cubicBezTo>
                  <a:cubicBezTo>
                    <a:pt x="19067" y="4181"/>
                    <a:pt x="29162" y="0"/>
                    <a:pt x="3968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7ADAF">
                    <a:alpha val="100000"/>
                  </a:srgbClr>
                </a:gs>
                <a:gs pos="25000">
                  <a:srgbClr val="004C73">
                    <a:alpha val="100000"/>
                  </a:srgbClr>
                </a:gs>
                <a:gs pos="50000">
                  <a:srgbClr val="004C73">
                    <a:alpha val="100000"/>
                  </a:srgbClr>
                </a:gs>
                <a:gs pos="75000">
                  <a:srgbClr val="004B72">
                    <a:alpha val="100000"/>
                  </a:srgbClr>
                </a:gs>
                <a:gs pos="100000">
                  <a:srgbClr val="004B72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620216" cy="2757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en-US" sz="219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No mechanism to cross-check medical accuracy</a:t>
              </a:r>
            </a:p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endParaRPr lang="en-US" sz="21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235832" y="3069201"/>
            <a:ext cx="9948631" cy="781688"/>
            <a:chOff x="0" y="0"/>
            <a:chExt cx="2620216" cy="20587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620216" cy="205877"/>
            </a:xfrm>
            <a:custGeom>
              <a:avLst/>
              <a:gdLst/>
              <a:ahLst/>
              <a:cxnLst/>
              <a:rect l="l" t="t" r="r" b="b"/>
              <a:pathLst>
                <a:path w="2620216" h="205877">
                  <a:moveTo>
                    <a:pt x="39688" y="0"/>
                  </a:moveTo>
                  <a:lnTo>
                    <a:pt x="2580528" y="0"/>
                  </a:lnTo>
                  <a:cubicBezTo>
                    <a:pt x="2591054" y="0"/>
                    <a:pt x="2601149" y="4181"/>
                    <a:pt x="2608591" y="11624"/>
                  </a:cubicBezTo>
                  <a:cubicBezTo>
                    <a:pt x="2616034" y="19067"/>
                    <a:pt x="2620216" y="29162"/>
                    <a:pt x="2620216" y="39688"/>
                  </a:cubicBezTo>
                  <a:lnTo>
                    <a:pt x="2620216" y="166189"/>
                  </a:lnTo>
                  <a:cubicBezTo>
                    <a:pt x="2620216" y="176715"/>
                    <a:pt x="2616034" y="186810"/>
                    <a:pt x="2608591" y="194252"/>
                  </a:cubicBezTo>
                  <a:cubicBezTo>
                    <a:pt x="2601149" y="201695"/>
                    <a:pt x="2591054" y="205877"/>
                    <a:pt x="2580528" y="205877"/>
                  </a:cubicBezTo>
                  <a:lnTo>
                    <a:pt x="39688" y="205877"/>
                  </a:lnTo>
                  <a:cubicBezTo>
                    <a:pt x="29162" y="205877"/>
                    <a:pt x="19067" y="201695"/>
                    <a:pt x="11624" y="194252"/>
                  </a:cubicBezTo>
                  <a:cubicBezTo>
                    <a:pt x="4181" y="186810"/>
                    <a:pt x="0" y="176715"/>
                    <a:pt x="0" y="166189"/>
                  </a:cubicBezTo>
                  <a:lnTo>
                    <a:pt x="0" y="39688"/>
                  </a:lnTo>
                  <a:cubicBezTo>
                    <a:pt x="0" y="29162"/>
                    <a:pt x="4181" y="19067"/>
                    <a:pt x="11624" y="11624"/>
                  </a:cubicBezTo>
                  <a:cubicBezTo>
                    <a:pt x="19067" y="4181"/>
                    <a:pt x="29162" y="0"/>
                    <a:pt x="3968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7ADAF">
                    <a:alpha val="100000"/>
                  </a:srgbClr>
                </a:gs>
                <a:gs pos="25000">
                  <a:srgbClr val="004C73">
                    <a:alpha val="100000"/>
                  </a:srgbClr>
                </a:gs>
                <a:gs pos="50000">
                  <a:srgbClr val="004C73">
                    <a:alpha val="100000"/>
                  </a:srgbClr>
                </a:gs>
                <a:gs pos="75000">
                  <a:srgbClr val="004B72">
                    <a:alpha val="100000"/>
                  </a:srgbClr>
                </a:gs>
                <a:gs pos="100000">
                  <a:srgbClr val="004B72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lgDash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620216" cy="243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39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LLMs require structured, relevant context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235832" y="4074235"/>
            <a:ext cx="9948631" cy="839443"/>
            <a:chOff x="0" y="0"/>
            <a:chExt cx="2620216" cy="22108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620216" cy="221088"/>
            </a:xfrm>
            <a:custGeom>
              <a:avLst/>
              <a:gdLst/>
              <a:ahLst/>
              <a:cxnLst/>
              <a:rect l="l" t="t" r="r" b="b"/>
              <a:pathLst>
                <a:path w="2620216" h="221088">
                  <a:moveTo>
                    <a:pt x="39688" y="0"/>
                  </a:moveTo>
                  <a:lnTo>
                    <a:pt x="2580528" y="0"/>
                  </a:lnTo>
                  <a:cubicBezTo>
                    <a:pt x="2591054" y="0"/>
                    <a:pt x="2601149" y="4181"/>
                    <a:pt x="2608591" y="11624"/>
                  </a:cubicBezTo>
                  <a:cubicBezTo>
                    <a:pt x="2616034" y="19067"/>
                    <a:pt x="2620216" y="29162"/>
                    <a:pt x="2620216" y="39688"/>
                  </a:cubicBezTo>
                  <a:lnTo>
                    <a:pt x="2620216" y="181400"/>
                  </a:lnTo>
                  <a:cubicBezTo>
                    <a:pt x="2620216" y="191926"/>
                    <a:pt x="2616034" y="202021"/>
                    <a:pt x="2608591" y="209464"/>
                  </a:cubicBezTo>
                  <a:cubicBezTo>
                    <a:pt x="2601149" y="216907"/>
                    <a:pt x="2591054" y="221088"/>
                    <a:pt x="2580528" y="221088"/>
                  </a:cubicBezTo>
                  <a:lnTo>
                    <a:pt x="39688" y="221088"/>
                  </a:lnTo>
                  <a:cubicBezTo>
                    <a:pt x="29162" y="221088"/>
                    <a:pt x="19067" y="216907"/>
                    <a:pt x="11624" y="209464"/>
                  </a:cubicBezTo>
                  <a:cubicBezTo>
                    <a:pt x="4181" y="202021"/>
                    <a:pt x="0" y="191926"/>
                    <a:pt x="0" y="181400"/>
                  </a:cubicBezTo>
                  <a:lnTo>
                    <a:pt x="0" y="39688"/>
                  </a:lnTo>
                  <a:cubicBezTo>
                    <a:pt x="0" y="29162"/>
                    <a:pt x="4181" y="19067"/>
                    <a:pt x="11624" y="11624"/>
                  </a:cubicBezTo>
                  <a:cubicBezTo>
                    <a:pt x="19067" y="4181"/>
                    <a:pt x="29162" y="0"/>
                    <a:pt x="3968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7ADAF">
                    <a:alpha val="100000"/>
                  </a:srgbClr>
                </a:gs>
                <a:gs pos="25000">
                  <a:srgbClr val="004C73">
                    <a:alpha val="100000"/>
                  </a:srgbClr>
                </a:gs>
                <a:gs pos="50000">
                  <a:srgbClr val="004C73">
                    <a:alpha val="100000"/>
                  </a:srgbClr>
                </a:gs>
                <a:gs pos="75000">
                  <a:srgbClr val="004B72">
                    <a:alpha val="100000"/>
                  </a:srgbClr>
                </a:gs>
                <a:gs pos="100000">
                  <a:srgbClr val="004B72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dash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620216" cy="268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229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Long documents exceed effective model limits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301979" y="6529191"/>
            <a:ext cx="9948631" cy="726755"/>
            <a:chOff x="0" y="0"/>
            <a:chExt cx="2620216" cy="19140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620216" cy="191409"/>
            </a:xfrm>
            <a:custGeom>
              <a:avLst/>
              <a:gdLst/>
              <a:ahLst/>
              <a:cxnLst/>
              <a:rect l="l" t="t" r="r" b="b"/>
              <a:pathLst>
                <a:path w="2620216" h="191409">
                  <a:moveTo>
                    <a:pt x="39688" y="0"/>
                  </a:moveTo>
                  <a:lnTo>
                    <a:pt x="2580528" y="0"/>
                  </a:lnTo>
                  <a:cubicBezTo>
                    <a:pt x="2591054" y="0"/>
                    <a:pt x="2601149" y="4181"/>
                    <a:pt x="2608591" y="11624"/>
                  </a:cubicBezTo>
                  <a:cubicBezTo>
                    <a:pt x="2616034" y="19067"/>
                    <a:pt x="2620216" y="29162"/>
                    <a:pt x="2620216" y="39688"/>
                  </a:cubicBezTo>
                  <a:lnTo>
                    <a:pt x="2620216" y="151721"/>
                  </a:lnTo>
                  <a:cubicBezTo>
                    <a:pt x="2620216" y="162247"/>
                    <a:pt x="2616034" y="172342"/>
                    <a:pt x="2608591" y="179784"/>
                  </a:cubicBezTo>
                  <a:cubicBezTo>
                    <a:pt x="2601149" y="187227"/>
                    <a:pt x="2591054" y="191409"/>
                    <a:pt x="2580528" y="191409"/>
                  </a:cubicBezTo>
                  <a:lnTo>
                    <a:pt x="39688" y="191409"/>
                  </a:lnTo>
                  <a:cubicBezTo>
                    <a:pt x="29162" y="191409"/>
                    <a:pt x="19067" y="187227"/>
                    <a:pt x="11624" y="179784"/>
                  </a:cubicBezTo>
                  <a:cubicBezTo>
                    <a:pt x="4181" y="172342"/>
                    <a:pt x="0" y="162247"/>
                    <a:pt x="0" y="151721"/>
                  </a:cubicBezTo>
                  <a:lnTo>
                    <a:pt x="0" y="39688"/>
                  </a:lnTo>
                  <a:cubicBezTo>
                    <a:pt x="0" y="29162"/>
                    <a:pt x="4181" y="19067"/>
                    <a:pt x="11624" y="11624"/>
                  </a:cubicBezTo>
                  <a:cubicBezTo>
                    <a:pt x="19067" y="4181"/>
                    <a:pt x="29162" y="0"/>
                    <a:pt x="3968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7ADAF">
                    <a:alpha val="100000"/>
                  </a:srgbClr>
                </a:gs>
                <a:gs pos="25000">
                  <a:srgbClr val="004C73">
                    <a:alpha val="100000"/>
                  </a:srgbClr>
                </a:gs>
                <a:gs pos="50000">
                  <a:srgbClr val="004C73">
                    <a:alpha val="100000"/>
                  </a:srgbClr>
                </a:gs>
                <a:gs pos="75000">
                  <a:srgbClr val="004B72">
                    <a:alpha val="100000"/>
                  </a:srgbClr>
                </a:gs>
                <a:gs pos="100000">
                  <a:srgbClr val="004B72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620216" cy="2295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Single-agent answers may be incomplete or inconsistent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235832" y="5260679"/>
            <a:ext cx="9948631" cy="942616"/>
            <a:chOff x="0" y="0"/>
            <a:chExt cx="2620216" cy="24826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620216" cy="248261"/>
            </a:xfrm>
            <a:custGeom>
              <a:avLst/>
              <a:gdLst/>
              <a:ahLst/>
              <a:cxnLst/>
              <a:rect l="l" t="t" r="r" b="b"/>
              <a:pathLst>
                <a:path w="2620216" h="248261">
                  <a:moveTo>
                    <a:pt x="39688" y="0"/>
                  </a:moveTo>
                  <a:lnTo>
                    <a:pt x="2580528" y="0"/>
                  </a:lnTo>
                  <a:cubicBezTo>
                    <a:pt x="2591054" y="0"/>
                    <a:pt x="2601149" y="4181"/>
                    <a:pt x="2608591" y="11624"/>
                  </a:cubicBezTo>
                  <a:cubicBezTo>
                    <a:pt x="2616034" y="19067"/>
                    <a:pt x="2620216" y="29162"/>
                    <a:pt x="2620216" y="39688"/>
                  </a:cubicBezTo>
                  <a:lnTo>
                    <a:pt x="2620216" y="208573"/>
                  </a:lnTo>
                  <a:cubicBezTo>
                    <a:pt x="2620216" y="219099"/>
                    <a:pt x="2616034" y="229194"/>
                    <a:pt x="2608591" y="236637"/>
                  </a:cubicBezTo>
                  <a:cubicBezTo>
                    <a:pt x="2601149" y="244080"/>
                    <a:pt x="2591054" y="248261"/>
                    <a:pt x="2580528" y="248261"/>
                  </a:cubicBezTo>
                  <a:lnTo>
                    <a:pt x="39688" y="248261"/>
                  </a:lnTo>
                  <a:cubicBezTo>
                    <a:pt x="29162" y="248261"/>
                    <a:pt x="19067" y="244080"/>
                    <a:pt x="11624" y="236637"/>
                  </a:cubicBezTo>
                  <a:cubicBezTo>
                    <a:pt x="4181" y="229194"/>
                    <a:pt x="0" y="219099"/>
                    <a:pt x="0" y="208573"/>
                  </a:cubicBezTo>
                  <a:lnTo>
                    <a:pt x="0" y="39688"/>
                  </a:lnTo>
                  <a:cubicBezTo>
                    <a:pt x="0" y="29162"/>
                    <a:pt x="4181" y="19067"/>
                    <a:pt x="11624" y="11624"/>
                  </a:cubicBezTo>
                  <a:cubicBezTo>
                    <a:pt x="19067" y="4181"/>
                    <a:pt x="29162" y="0"/>
                    <a:pt x="3968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7ADAF">
                    <a:alpha val="100000"/>
                  </a:srgbClr>
                </a:gs>
                <a:gs pos="25000">
                  <a:srgbClr val="004C73">
                    <a:alpha val="100000"/>
                  </a:srgbClr>
                </a:gs>
                <a:gs pos="50000">
                  <a:srgbClr val="004C73">
                    <a:alpha val="100000"/>
                  </a:srgbClr>
                </a:gs>
                <a:gs pos="75000">
                  <a:srgbClr val="004B72">
                    <a:alpha val="100000"/>
                  </a:srgbClr>
                </a:gs>
                <a:gs pos="100000">
                  <a:srgbClr val="004B72">
                    <a:alpha val="100000"/>
                  </a:srgbClr>
                </a:gs>
              </a:gsLst>
              <a:lin ang="0"/>
            </a:gradFill>
            <a:ln w="952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2620216" cy="2958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r>
                <a:rPr lang="en-US" sz="229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No automatic retrieval of important sections</a:t>
              </a:r>
            </a:p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endParaRPr lang="en-US" sz="22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4814933" y="799782"/>
            <a:ext cx="8922724" cy="1447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55"/>
              </a:lnSpc>
            </a:pPr>
            <a:r>
              <a:rPr lang="en-US" sz="5500" b="1">
                <a:solidFill>
                  <a:srgbClr val="001A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LIMITATIONS OF EXISTING METHODS</a:t>
            </a:r>
          </a:p>
        </p:txBody>
      </p:sp>
      <p:sp>
        <p:nvSpPr>
          <p:cNvPr id="20" name="Freeform 20"/>
          <p:cNvSpPr/>
          <p:nvPr/>
        </p:nvSpPr>
        <p:spPr>
          <a:xfrm>
            <a:off x="0" y="0"/>
            <a:ext cx="4330006" cy="1352555"/>
          </a:xfrm>
          <a:custGeom>
            <a:avLst/>
            <a:gdLst/>
            <a:ahLst/>
            <a:cxnLst/>
            <a:rect l="l" t="t" r="r" b="b"/>
            <a:pathLst>
              <a:path w="4330006" h="1352555">
                <a:moveTo>
                  <a:pt x="0" y="0"/>
                </a:moveTo>
                <a:lnTo>
                  <a:pt x="4330006" y="0"/>
                </a:lnTo>
                <a:lnTo>
                  <a:pt x="4330006" y="1352555"/>
                </a:lnTo>
                <a:lnTo>
                  <a:pt x="0" y="13525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77" b="-47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/>
          <p:cNvGrpSpPr/>
          <p:nvPr/>
        </p:nvGrpSpPr>
        <p:grpSpPr>
          <a:xfrm>
            <a:off x="-163089" y="6326200"/>
            <a:ext cx="3968473" cy="4471482"/>
            <a:chOff x="0" y="0"/>
            <a:chExt cx="785886" cy="88549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85886" cy="885498"/>
            </a:xfrm>
            <a:custGeom>
              <a:avLst/>
              <a:gdLst/>
              <a:ahLst/>
              <a:cxnLst/>
              <a:rect l="l" t="t" r="r" b="b"/>
              <a:pathLst>
                <a:path w="785886" h="885498">
                  <a:moveTo>
                    <a:pt x="392943" y="0"/>
                  </a:moveTo>
                  <a:cubicBezTo>
                    <a:pt x="175927" y="0"/>
                    <a:pt x="0" y="198225"/>
                    <a:pt x="0" y="442749"/>
                  </a:cubicBezTo>
                  <a:cubicBezTo>
                    <a:pt x="0" y="687273"/>
                    <a:pt x="175927" y="885498"/>
                    <a:pt x="392943" y="885498"/>
                  </a:cubicBezTo>
                  <a:cubicBezTo>
                    <a:pt x="609959" y="885498"/>
                    <a:pt x="785886" y="687273"/>
                    <a:pt x="785886" y="442749"/>
                  </a:cubicBezTo>
                  <a:cubicBezTo>
                    <a:pt x="785886" y="198225"/>
                    <a:pt x="609959" y="0"/>
                    <a:pt x="392943" y="0"/>
                  </a:cubicBezTo>
                  <a:close/>
                </a:path>
              </a:pathLst>
            </a:custGeom>
            <a:blipFill>
              <a:blip r:embed="rId5"/>
              <a:stretch>
                <a:fillRect l="-6337" r="-62780"/>
              </a:stretch>
            </a:blipFill>
            <a:ln w="1714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99714" y="8155035"/>
            <a:ext cx="4817827" cy="837097"/>
          </a:xfrm>
          <a:custGeom>
            <a:avLst/>
            <a:gdLst/>
            <a:ahLst/>
            <a:cxnLst/>
            <a:rect l="l" t="t" r="r" b="b"/>
            <a:pathLst>
              <a:path w="4817827" h="837097">
                <a:moveTo>
                  <a:pt x="0" y="0"/>
                </a:moveTo>
                <a:lnTo>
                  <a:pt x="4817827" y="0"/>
                </a:lnTo>
                <a:lnTo>
                  <a:pt x="4817827" y="837098"/>
                </a:lnTo>
                <a:lnTo>
                  <a:pt x="0" y="8370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305518" y="8155035"/>
            <a:ext cx="4817827" cy="837097"/>
          </a:xfrm>
          <a:custGeom>
            <a:avLst/>
            <a:gdLst/>
            <a:ahLst/>
            <a:cxnLst/>
            <a:rect l="l" t="t" r="r" b="b"/>
            <a:pathLst>
              <a:path w="4817827" h="837097">
                <a:moveTo>
                  <a:pt x="0" y="0"/>
                </a:moveTo>
                <a:lnTo>
                  <a:pt x="4817827" y="0"/>
                </a:lnTo>
                <a:lnTo>
                  <a:pt x="4817827" y="837098"/>
                </a:lnTo>
                <a:lnTo>
                  <a:pt x="0" y="8370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1884549" y="8155035"/>
            <a:ext cx="4817827" cy="837097"/>
          </a:xfrm>
          <a:custGeom>
            <a:avLst/>
            <a:gdLst/>
            <a:ahLst/>
            <a:cxnLst/>
            <a:rect l="l" t="t" r="r" b="b"/>
            <a:pathLst>
              <a:path w="4817827" h="837097">
                <a:moveTo>
                  <a:pt x="0" y="0"/>
                </a:moveTo>
                <a:lnTo>
                  <a:pt x="4817827" y="0"/>
                </a:lnTo>
                <a:lnTo>
                  <a:pt x="4817827" y="837098"/>
                </a:lnTo>
                <a:lnTo>
                  <a:pt x="0" y="8370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2302463" y="2777043"/>
            <a:ext cx="4914255" cy="3017187"/>
            <a:chOff x="0" y="0"/>
            <a:chExt cx="1294289" cy="7946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94290" cy="794650"/>
            </a:xfrm>
            <a:custGeom>
              <a:avLst/>
              <a:gdLst/>
              <a:ahLst/>
              <a:cxnLst/>
              <a:rect l="l" t="t" r="r" b="b"/>
              <a:pathLst>
                <a:path w="1294290" h="794650">
                  <a:moveTo>
                    <a:pt x="80345" y="0"/>
                  </a:moveTo>
                  <a:lnTo>
                    <a:pt x="1213944" y="0"/>
                  </a:lnTo>
                  <a:cubicBezTo>
                    <a:pt x="1235253" y="0"/>
                    <a:pt x="1255689" y="8465"/>
                    <a:pt x="1270757" y="23533"/>
                  </a:cubicBezTo>
                  <a:cubicBezTo>
                    <a:pt x="1285825" y="38600"/>
                    <a:pt x="1294290" y="59036"/>
                    <a:pt x="1294290" y="80345"/>
                  </a:cubicBezTo>
                  <a:lnTo>
                    <a:pt x="1294290" y="714305"/>
                  </a:lnTo>
                  <a:cubicBezTo>
                    <a:pt x="1294290" y="735614"/>
                    <a:pt x="1285825" y="756050"/>
                    <a:pt x="1270757" y="771117"/>
                  </a:cubicBezTo>
                  <a:cubicBezTo>
                    <a:pt x="1255689" y="786185"/>
                    <a:pt x="1235253" y="794650"/>
                    <a:pt x="1213944" y="794650"/>
                  </a:cubicBezTo>
                  <a:lnTo>
                    <a:pt x="80345" y="794650"/>
                  </a:lnTo>
                  <a:cubicBezTo>
                    <a:pt x="59036" y="794650"/>
                    <a:pt x="38600" y="786185"/>
                    <a:pt x="23533" y="771117"/>
                  </a:cubicBezTo>
                  <a:cubicBezTo>
                    <a:pt x="8465" y="756050"/>
                    <a:pt x="0" y="735614"/>
                    <a:pt x="0" y="714305"/>
                  </a:cubicBezTo>
                  <a:lnTo>
                    <a:pt x="0" y="80345"/>
                  </a:lnTo>
                  <a:cubicBezTo>
                    <a:pt x="0" y="59036"/>
                    <a:pt x="8465" y="38600"/>
                    <a:pt x="23533" y="23533"/>
                  </a:cubicBezTo>
                  <a:cubicBezTo>
                    <a:pt x="38600" y="8465"/>
                    <a:pt x="59036" y="0"/>
                    <a:pt x="8034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7ADAF">
                    <a:alpha val="100000"/>
                  </a:srgbClr>
                </a:gs>
                <a:gs pos="25000">
                  <a:srgbClr val="004C73">
                    <a:alpha val="100000"/>
                  </a:srgbClr>
                </a:gs>
                <a:gs pos="50000">
                  <a:srgbClr val="004C73">
                    <a:alpha val="100000"/>
                  </a:srgbClr>
                </a:gs>
                <a:gs pos="75000">
                  <a:srgbClr val="004B72">
                    <a:alpha val="100000"/>
                  </a:srgbClr>
                </a:gs>
                <a:gs pos="100000">
                  <a:srgbClr val="004B72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294289" cy="8422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r>
                <a:rPr lang="en-US" sz="2299" b="1" dirty="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1. Structured PDF Processing</a:t>
              </a:r>
            </a:p>
            <a:p>
              <a:pPr algn="ctr">
                <a:lnSpc>
                  <a:spcPts val="3779"/>
                </a:lnSpc>
              </a:pPr>
              <a:endParaRPr lang="en-US" sz="229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  <a:p>
              <a:pPr marL="474978" lvl="1" indent="-237489" algn="ctr">
                <a:lnSpc>
                  <a:spcPts val="3079"/>
                </a:lnSpc>
                <a:buFont typeface="Arial"/>
                <a:buChar char="•"/>
              </a:pPr>
              <a:r>
                <a:rPr lang="en-US" sz="2199" dirty="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Extract → Chunk → Embed → Index</a:t>
              </a:r>
            </a:p>
            <a:p>
              <a:pPr marL="0" lvl="0" indent="0" algn="ctr">
                <a:lnSpc>
                  <a:spcPts val="3079"/>
                </a:lnSpc>
                <a:spcBef>
                  <a:spcPct val="0"/>
                </a:spcBef>
              </a:pPr>
              <a:endParaRPr lang="en-US" sz="21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302463" y="6306722"/>
            <a:ext cx="4914255" cy="2823447"/>
            <a:chOff x="0" y="0"/>
            <a:chExt cx="1294289" cy="74362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94290" cy="743624"/>
            </a:xfrm>
            <a:custGeom>
              <a:avLst/>
              <a:gdLst/>
              <a:ahLst/>
              <a:cxnLst/>
              <a:rect l="l" t="t" r="r" b="b"/>
              <a:pathLst>
                <a:path w="1294290" h="743624">
                  <a:moveTo>
                    <a:pt x="80345" y="0"/>
                  </a:moveTo>
                  <a:lnTo>
                    <a:pt x="1213944" y="0"/>
                  </a:lnTo>
                  <a:cubicBezTo>
                    <a:pt x="1235253" y="0"/>
                    <a:pt x="1255689" y="8465"/>
                    <a:pt x="1270757" y="23533"/>
                  </a:cubicBezTo>
                  <a:cubicBezTo>
                    <a:pt x="1285825" y="38600"/>
                    <a:pt x="1294290" y="59036"/>
                    <a:pt x="1294290" y="80345"/>
                  </a:cubicBezTo>
                  <a:lnTo>
                    <a:pt x="1294290" y="663278"/>
                  </a:lnTo>
                  <a:cubicBezTo>
                    <a:pt x="1294290" y="684587"/>
                    <a:pt x="1285825" y="705024"/>
                    <a:pt x="1270757" y="720091"/>
                  </a:cubicBezTo>
                  <a:cubicBezTo>
                    <a:pt x="1255689" y="735159"/>
                    <a:pt x="1235253" y="743624"/>
                    <a:pt x="1213944" y="743624"/>
                  </a:cubicBezTo>
                  <a:lnTo>
                    <a:pt x="80345" y="743624"/>
                  </a:lnTo>
                  <a:cubicBezTo>
                    <a:pt x="59036" y="743624"/>
                    <a:pt x="38600" y="735159"/>
                    <a:pt x="23533" y="720091"/>
                  </a:cubicBezTo>
                  <a:cubicBezTo>
                    <a:pt x="8465" y="705024"/>
                    <a:pt x="0" y="684587"/>
                    <a:pt x="0" y="663278"/>
                  </a:cubicBezTo>
                  <a:lnTo>
                    <a:pt x="0" y="80345"/>
                  </a:lnTo>
                  <a:cubicBezTo>
                    <a:pt x="0" y="59036"/>
                    <a:pt x="8465" y="38600"/>
                    <a:pt x="23533" y="23533"/>
                  </a:cubicBezTo>
                  <a:cubicBezTo>
                    <a:pt x="38600" y="8465"/>
                    <a:pt x="59036" y="0"/>
                    <a:pt x="8034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7ADAF">
                    <a:alpha val="100000"/>
                  </a:srgbClr>
                </a:gs>
                <a:gs pos="25000">
                  <a:srgbClr val="004C73">
                    <a:alpha val="100000"/>
                  </a:srgbClr>
                </a:gs>
                <a:gs pos="50000">
                  <a:srgbClr val="004C73">
                    <a:alpha val="100000"/>
                  </a:srgbClr>
                </a:gs>
                <a:gs pos="75000">
                  <a:srgbClr val="004B72">
                    <a:alpha val="100000"/>
                  </a:srgbClr>
                </a:gs>
                <a:gs pos="100000">
                  <a:srgbClr val="004B72">
                    <a:alpha val="100000"/>
                  </a:srgbClr>
                </a:gs>
              </a:gsLst>
              <a:lin ang="2700000"/>
            </a:gra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294289" cy="7817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9"/>
                </a:lnSpc>
              </a:pPr>
              <a:r>
                <a:rPr lang="en-US" sz="209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2. Fast Semantic Retrieval</a:t>
              </a:r>
            </a:p>
            <a:p>
              <a:pPr algn="ctr">
                <a:lnSpc>
                  <a:spcPts val="3079"/>
                </a:lnSpc>
              </a:pPr>
              <a:endParaRPr lang="en-US" sz="20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  <a:p>
              <a:pPr marL="431799" lvl="1" indent="-215899" algn="l">
                <a:lnSpc>
                  <a:spcPts val="2799"/>
                </a:lnSpc>
                <a:buFont typeface="Arial"/>
                <a:buChar char="•"/>
              </a:pPr>
              <a:r>
                <a:rPr lang="en-US" sz="19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FAISS retrieves only the most relevant PDF text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909882" y="2777043"/>
            <a:ext cx="4982448" cy="3017187"/>
            <a:chOff x="0" y="0"/>
            <a:chExt cx="1312250" cy="7946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12250" cy="794650"/>
            </a:xfrm>
            <a:custGeom>
              <a:avLst/>
              <a:gdLst/>
              <a:ahLst/>
              <a:cxnLst/>
              <a:rect l="l" t="t" r="r" b="b"/>
              <a:pathLst>
                <a:path w="1312250" h="794650">
                  <a:moveTo>
                    <a:pt x="79246" y="0"/>
                  </a:moveTo>
                  <a:lnTo>
                    <a:pt x="1233004" y="0"/>
                  </a:lnTo>
                  <a:cubicBezTo>
                    <a:pt x="1254021" y="0"/>
                    <a:pt x="1274178" y="8349"/>
                    <a:pt x="1289039" y="23211"/>
                  </a:cubicBezTo>
                  <a:cubicBezTo>
                    <a:pt x="1303901" y="38072"/>
                    <a:pt x="1312250" y="58228"/>
                    <a:pt x="1312250" y="79246"/>
                  </a:cubicBezTo>
                  <a:lnTo>
                    <a:pt x="1312250" y="715404"/>
                  </a:lnTo>
                  <a:cubicBezTo>
                    <a:pt x="1312250" y="759171"/>
                    <a:pt x="1276770" y="794650"/>
                    <a:pt x="1233004" y="794650"/>
                  </a:cubicBezTo>
                  <a:lnTo>
                    <a:pt x="79246" y="794650"/>
                  </a:lnTo>
                  <a:cubicBezTo>
                    <a:pt x="58228" y="794650"/>
                    <a:pt x="38072" y="786301"/>
                    <a:pt x="23211" y="771440"/>
                  </a:cubicBezTo>
                  <a:cubicBezTo>
                    <a:pt x="8349" y="756578"/>
                    <a:pt x="0" y="736422"/>
                    <a:pt x="0" y="715404"/>
                  </a:cubicBezTo>
                  <a:lnTo>
                    <a:pt x="0" y="79246"/>
                  </a:lnTo>
                  <a:cubicBezTo>
                    <a:pt x="0" y="58228"/>
                    <a:pt x="8349" y="38072"/>
                    <a:pt x="23211" y="23211"/>
                  </a:cubicBezTo>
                  <a:cubicBezTo>
                    <a:pt x="38072" y="8349"/>
                    <a:pt x="58228" y="0"/>
                    <a:pt x="7924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7ADAF">
                    <a:alpha val="100000"/>
                  </a:srgbClr>
                </a:gs>
                <a:gs pos="25000">
                  <a:srgbClr val="004C73">
                    <a:alpha val="100000"/>
                  </a:srgbClr>
                </a:gs>
                <a:gs pos="50000">
                  <a:srgbClr val="004C73">
                    <a:alpha val="100000"/>
                  </a:srgbClr>
                </a:gs>
                <a:gs pos="75000">
                  <a:srgbClr val="004B72">
                    <a:alpha val="100000"/>
                  </a:srgbClr>
                </a:gs>
                <a:gs pos="100000">
                  <a:srgbClr val="004B72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312250" cy="832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9"/>
                </a:lnSpc>
              </a:pPr>
              <a:r>
                <a:rPr lang="en-US" sz="2099" b="1" dirty="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3. Three-Agent Reasoning Pipeline</a:t>
              </a:r>
            </a:p>
            <a:p>
              <a:pPr algn="ctr">
                <a:lnSpc>
                  <a:spcPts val="2939"/>
                </a:lnSpc>
              </a:pPr>
              <a:endParaRPr lang="en-US" sz="209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  <a:p>
              <a:pPr marL="431799" lvl="1" indent="-215899" algn="l">
                <a:lnSpc>
                  <a:spcPts val="2799"/>
                </a:lnSpc>
                <a:buFont typeface="Arial"/>
                <a:buChar char="•"/>
              </a:pPr>
              <a:r>
                <a:rPr lang="en-US" sz="1999" dirty="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Classification Agent – ensures PDF is medical</a:t>
              </a:r>
            </a:p>
            <a:p>
              <a:pPr marL="431799" lvl="1" indent="-215899" algn="l">
                <a:lnSpc>
                  <a:spcPts val="2799"/>
                </a:lnSpc>
                <a:buFont typeface="Arial"/>
                <a:buChar char="•"/>
              </a:pPr>
              <a:r>
                <a:rPr lang="en-US" sz="1999" dirty="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Generator Agent – drafts answer from retrieved chunks</a:t>
              </a:r>
            </a:p>
            <a:p>
              <a:pPr marL="431799" lvl="1" indent="-215899" algn="l">
                <a:lnSpc>
                  <a:spcPts val="2799"/>
                </a:lnSpc>
                <a:buFont typeface="Arial"/>
                <a:buChar char="•"/>
              </a:pPr>
              <a:r>
                <a:rPr lang="en-US" sz="1999" dirty="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Validator Agent – checks accuracy and refines answer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302463" y="649204"/>
            <a:ext cx="12096994" cy="792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60"/>
              </a:lnSpc>
            </a:pPr>
            <a:r>
              <a:rPr lang="en-US" sz="6000" b="1">
                <a:solidFill>
                  <a:srgbClr val="001A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OUR SOLUTION 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8909882" y="6434853"/>
            <a:ext cx="4982448" cy="2823447"/>
            <a:chOff x="0" y="0"/>
            <a:chExt cx="1312250" cy="74362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12250" cy="743624"/>
            </a:xfrm>
            <a:custGeom>
              <a:avLst/>
              <a:gdLst/>
              <a:ahLst/>
              <a:cxnLst/>
              <a:rect l="l" t="t" r="r" b="b"/>
              <a:pathLst>
                <a:path w="1312250" h="743624">
                  <a:moveTo>
                    <a:pt x="79246" y="0"/>
                  </a:moveTo>
                  <a:lnTo>
                    <a:pt x="1233004" y="0"/>
                  </a:lnTo>
                  <a:cubicBezTo>
                    <a:pt x="1254021" y="0"/>
                    <a:pt x="1274178" y="8349"/>
                    <a:pt x="1289039" y="23211"/>
                  </a:cubicBezTo>
                  <a:cubicBezTo>
                    <a:pt x="1303901" y="38072"/>
                    <a:pt x="1312250" y="58228"/>
                    <a:pt x="1312250" y="79246"/>
                  </a:cubicBezTo>
                  <a:lnTo>
                    <a:pt x="1312250" y="664378"/>
                  </a:lnTo>
                  <a:cubicBezTo>
                    <a:pt x="1312250" y="685395"/>
                    <a:pt x="1303901" y="705552"/>
                    <a:pt x="1289039" y="720413"/>
                  </a:cubicBezTo>
                  <a:cubicBezTo>
                    <a:pt x="1274178" y="735275"/>
                    <a:pt x="1254021" y="743624"/>
                    <a:pt x="1233004" y="743624"/>
                  </a:cubicBezTo>
                  <a:lnTo>
                    <a:pt x="79246" y="743624"/>
                  </a:lnTo>
                  <a:cubicBezTo>
                    <a:pt x="35480" y="743624"/>
                    <a:pt x="0" y="708144"/>
                    <a:pt x="0" y="664378"/>
                  </a:cubicBezTo>
                  <a:lnTo>
                    <a:pt x="0" y="79246"/>
                  </a:lnTo>
                  <a:cubicBezTo>
                    <a:pt x="0" y="58228"/>
                    <a:pt x="8349" y="38072"/>
                    <a:pt x="23211" y="23211"/>
                  </a:cubicBezTo>
                  <a:cubicBezTo>
                    <a:pt x="38072" y="8349"/>
                    <a:pt x="58228" y="0"/>
                    <a:pt x="7924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7ADAF">
                    <a:alpha val="100000"/>
                  </a:srgbClr>
                </a:gs>
                <a:gs pos="25000">
                  <a:srgbClr val="004C73">
                    <a:alpha val="100000"/>
                  </a:srgbClr>
                </a:gs>
                <a:gs pos="50000">
                  <a:srgbClr val="004C73">
                    <a:alpha val="100000"/>
                  </a:srgbClr>
                </a:gs>
                <a:gs pos="75000">
                  <a:srgbClr val="004B72">
                    <a:alpha val="100000"/>
                  </a:srgbClr>
                </a:gs>
                <a:gs pos="100000">
                  <a:srgbClr val="004B72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312250" cy="7817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r>
                <a:rPr lang="en-US" sz="199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4. Evidence-Grounded Responses</a:t>
              </a:r>
            </a:p>
            <a:p>
              <a:pPr algn="ctr">
                <a:lnSpc>
                  <a:spcPts val="2799"/>
                </a:lnSpc>
              </a:pPr>
              <a:endParaRPr lang="en-US" sz="19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  <a:p>
              <a:pPr marL="431799" lvl="1" indent="-215899" algn="l">
                <a:lnSpc>
                  <a:spcPts val="2799"/>
                </a:lnSpc>
                <a:buFont typeface="Arial"/>
                <a:buChar char="•"/>
              </a:pPr>
              <a:r>
                <a:rPr lang="en-US" sz="19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Final answers strictly use information from uploaded medical PDFs</a:t>
              </a:r>
            </a:p>
            <a:p>
              <a:pPr algn="l">
                <a:lnSpc>
                  <a:spcPts val="2659"/>
                </a:lnSpc>
              </a:pPr>
              <a:endParaRPr lang="en-US" sz="1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</p:grpSp>
      <p:sp>
        <p:nvSpPr>
          <p:cNvPr id="20" name="Freeform 20"/>
          <p:cNvSpPr/>
          <p:nvPr/>
        </p:nvSpPr>
        <p:spPr>
          <a:xfrm>
            <a:off x="0" y="0"/>
            <a:ext cx="4330006" cy="1352555"/>
          </a:xfrm>
          <a:custGeom>
            <a:avLst/>
            <a:gdLst/>
            <a:ahLst/>
            <a:cxnLst/>
            <a:rect l="l" t="t" r="r" b="b"/>
            <a:pathLst>
              <a:path w="4330006" h="1352555">
                <a:moveTo>
                  <a:pt x="0" y="0"/>
                </a:moveTo>
                <a:lnTo>
                  <a:pt x="4330006" y="0"/>
                </a:lnTo>
                <a:lnTo>
                  <a:pt x="4330006" y="1352555"/>
                </a:lnTo>
                <a:lnTo>
                  <a:pt x="0" y="13525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77" b="-47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15">
            <a:extLst>
              <a:ext uri="{FF2B5EF4-FFF2-40B4-BE49-F238E27FC236}">
                <a16:creationId xmlns:a16="http://schemas.microsoft.com/office/drawing/2014/main" id="{AD8452CE-E595-82B4-9BFB-06C646D99E00}"/>
              </a:ext>
            </a:extLst>
          </p:cNvPr>
          <p:cNvSpPr/>
          <p:nvPr/>
        </p:nvSpPr>
        <p:spPr>
          <a:xfrm>
            <a:off x="-152400" y="8838477"/>
            <a:ext cx="1898062" cy="1448524"/>
          </a:xfrm>
          <a:custGeom>
            <a:avLst/>
            <a:gdLst/>
            <a:ahLst/>
            <a:cxnLst/>
            <a:rect l="l" t="t" r="r" b="b"/>
            <a:pathLst>
              <a:path w="2742838" h="1880091">
                <a:moveTo>
                  <a:pt x="0" y="0"/>
                </a:moveTo>
                <a:lnTo>
                  <a:pt x="2742838" y="0"/>
                </a:lnTo>
                <a:lnTo>
                  <a:pt x="2742838" y="1880090"/>
                </a:lnTo>
                <a:lnTo>
                  <a:pt x="0" y="18800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16">
            <a:extLst>
              <a:ext uri="{FF2B5EF4-FFF2-40B4-BE49-F238E27FC236}">
                <a16:creationId xmlns:a16="http://schemas.microsoft.com/office/drawing/2014/main" id="{7C45D58E-5E08-EAE2-7B2F-29FE05A46C6F}"/>
              </a:ext>
            </a:extLst>
          </p:cNvPr>
          <p:cNvSpPr/>
          <p:nvPr/>
        </p:nvSpPr>
        <p:spPr>
          <a:xfrm>
            <a:off x="16506719" y="99902"/>
            <a:ext cx="1781282" cy="1935480"/>
          </a:xfrm>
          <a:custGeom>
            <a:avLst/>
            <a:gdLst/>
            <a:ahLst/>
            <a:cxnLst/>
            <a:rect l="l" t="t" r="r" b="b"/>
            <a:pathLst>
              <a:path w="1910847" h="1935480">
                <a:moveTo>
                  <a:pt x="0" y="0"/>
                </a:moveTo>
                <a:lnTo>
                  <a:pt x="1910847" y="0"/>
                </a:lnTo>
                <a:lnTo>
                  <a:pt x="1910847" y="1935480"/>
                </a:lnTo>
                <a:lnTo>
                  <a:pt x="0" y="19354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45662" y="3543450"/>
            <a:ext cx="4817827" cy="837097"/>
          </a:xfrm>
          <a:custGeom>
            <a:avLst/>
            <a:gdLst/>
            <a:ahLst/>
            <a:cxnLst/>
            <a:rect l="l" t="t" r="r" b="b"/>
            <a:pathLst>
              <a:path w="4817827" h="837097">
                <a:moveTo>
                  <a:pt x="0" y="0"/>
                </a:moveTo>
                <a:lnTo>
                  <a:pt x="4817827" y="0"/>
                </a:lnTo>
                <a:lnTo>
                  <a:pt x="4817827" y="837098"/>
                </a:lnTo>
                <a:lnTo>
                  <a:pt x="0" y="8370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028700" y="3525870"/>
            <a:ext cx="5276818" cy="3583666"/>
            <a:chOff x="0" y="0"/>
            <a:chExt cx="1389779" cy="9438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89779" cy="943846"/>
            </a:xfrm>
            <a:custGeom>
              <a:avLst/>
              <a:gdLst/>
              <a:ahLst/>
              <a:cxnLst/>
              <a:rect l="l" t="t" r="r" b="b"/>
              <a:pathLst>
                <a:path w="1389779" h="943846">
                  <a:moveTo>
                    <a:pt x="74825" y="0"/>
                  </a:moveTo>
                  <a:lnTo>
                    <a:pt x="1314954" y="0"/>
                  </a:lnTo>
                  <a:cubicBezTo>
                    <a:pt x="1356279" y="0"/>
                    <a:pt x="1389779" y="33500"/>
                    <a:pt x="1389779" y="74825"/>
                  </a:cubicBezTo>
                  <a:lnTo>
                    <a:pt x="1389779" y="869021"/>
                  </a:lnTo>
                  <a:cubicBezTo>
                    <a:pt x="1389779" y="888866"/>
                    <a:pt x="1381896" y="907898"/>
                    <a:pt x="1367864" y="921931"/>
                  </a:cubicBezTo>
                  <a:cubicBezTo>
                    <a:pt x="1353831" y="935963"/>
                    <a:pt x="1334799" y="943846"/>
                    <a:pt x="1314954" y="943846"/>
                  </a:cubicBezTo>
                  <a:lnTo>
                    <a:pt x="74825" y="943846"/>
                  </a:lnTo>
                  <a:cubicBezTo>
                    <a:pt x="33500" y="943846"/>
                    <a:pt x="0" y="910346"/>
                    <a:pt x="0" y="869021"/>
                  </a:cubicBezTo>
                  <a:lnTo>
                    <a:pt x="0" y="74825"/>
                  </a:lnTo>
                  <a:cubicBezTo>
                    <a:pt x="0" y="33500"/>
                    <a:pt x="33500" y="0"/>
                    <a:pt x="7482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7ADAF">
                    <a:alpha val="100000"/>
                  </a:srgbClr>
                </a:gs>
                <a:gs pos="25000">
                  <a:srgbClr val="004C73">
                    <a:alpha val="100000"/>
                  </a:srgbClr>
                </a:gs>
                <a:gs pos="50000">
                  <a:srgbClr val="004C73">
                    <a:alpha val="100000"/>
                  </a:srgbClr>
                </a:gs>
                <a:gs pos="75000">
                  <a:srgbClr val="004B72">
                    <a:alpha val="100000"/>
                  </a:srgbClr>
                </a:gs>
                <a:gs pos="100000">
                  <a:srgbClr val="004B72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389779" cy="9819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837898" y="3525870"/>
            <a:ext cx="5212354" cy="3583666"/>
            <a:chOff x="0" y="0"/>
            <a:chExt cx="1372801" cy="94384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72801" cy="943846"/>
            </a:xfrm>
            <a:custGeom>
              <a:avLst/>
              <a:gdLst/>
              <a:ahLst/>
              <a:cxnLst/>
              <a:rect l="l" t="t" r="r" b="b"/>
              <a:pathLst>
                <a:path w="1372801" h="943846">
                  <a:moveTo>
                    <a:pt x="75750" y="0"/>
                  </a:moveTo>
                  <a:lnTo>
                    <a:pt x="1297051" y="0"/>
                  </a:lnTo>
                  <a:cubicBezTo>
                    <a:pt x="1338886" y="0"/>
                    <a:pt x="1372801" y="33915"/>
                    <a:pt x="1372801" y="75750"/>
                  </a:cubicBezTo>
                  <a:lnTo>
                    <a:pt x="1372801" y="868096"/>
                  </a:lnTo>
                  <a:cubicBezTo>
                    <a:pt x="1372801" y="888186"/>
                    <a:pt x="1364820" y="907454"/>
                    <a:pt x="1350614" y="921659"/>
                  </a:cubicBezTo>
                  <a:cubicBezTo>
                    <a:pt x="1336408" y="935865"/>
                    <a:pt x="1317141" y="943846"/>
                    <a:pt x="1297051" y="943846"/>
                  </a:cubicBezTo>
                  <a:lnTo>
                    <a:pt x="75750" y="943846"/>
                  </a:lnTo>
                  <a:cubicBezTo>
                    <a:pt x="55660" y="943846"/>
                    <a:pt x="36393" y="935865"/>
                    <a:pt x="22187" y="921659"/>
                  </a:cubicBezTo>
                  <a:cubicBezTo>
                    <a:pt x="7981" y="907454"/>
                    <a:pt x="0" y="888186"/>
                    <a:pt x="0" y="868096"/>
                  </a:cubicBezTo>
                  <a:lnTo>
                    <a:pt x="0" y="75750"/>
                  </a:lnTo>
                  <a:cubicBezTo>
                    <a:pt x="0" y="55660"/>
                    <a:pt x="7981" y="36393"/>
                    <a:pt x="22187" y="22187"/>
                  </a:cubicBezTo>
                  <a:cubicBezTo>
                    <a:pt x="36393" y="7981"/>
                    <a:pt x="55660" y="0"/>
                    <a:pt x="7575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7ADAF">
                    <a:alpha val="100000"/>
                  </a:srgbClr>
                </a:gs>
                <a:gs pos="25000">
                  <a:srgbClr val="004C73">
                    <a:alpha val="100000"/>
                  </a:srgbClr>
                </a:gs>
                <a:gs pos="50000">
                  <a:srgbClr val="004C73">
                    <a:alpha val="100000"/>
                  </a:srgbClr>
                </a:gs>
                <a:gs pos="75000">
                  <a:srgbClr val="004B72">
                    <a:alpha val="100000"/>
                  </a:srgbClr>
                </a:gs>
                <a:gs pos="100000">
                  <a:srgbClr val="004B72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372801" cy="9819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454981" y="3525870"/>
            <a:ext cx="5277818" cy="3498234"/>
            <a:chOff x="0" y="0"/>
            <a:chExt cx="1390043" cy="92134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90042" cy="921346"/>
            </a:xfrm>
            <a:custGeom>
              <a:avLst/>
              <a:gdLst/>
              <a:ahLst/>
              <a:cxnLst/>
              <a:rect l="l" t="t" r="r" b="b"/>
              <a:pathLst>
                <a:path w="1390042" h="921346">
                  <a:moveTo>
                    <a:pt x="74811" y="0"/>
                  </a:moveTo>
                  <a:lnTo>
                    <a:pt x="1315232" y="0"/>
                  </a:lnTo>
                  <a:cubicBezTo>
                    <a:pt x="1335073" y="0"/>
                    <a:pt x="1354101" y="7882"/>
                    <a:pt x="1368131" y="21912"/>
                  </a:cubicBezTo>
                  <a:cubicBezTo>
                    <a:pt x="1382161" y="35941"/>
                    <a:pt x="1390042" y="54970"/>
                    <a:pt x="1390042" y="74811"/>
                  </a:cubicBezTo>
                  <a:lnTo>
                    <a:pt x="1390042" y="846535"/>
                  </a:lnTo>
                  <a:cubicBezTo>
                    <a:pt x="1390042" y="887852"/>
                    <a:pt x="1356548" y="921346"/>
                    <a:pt x="1315232" y="921346"/>
                  </a:cubicBezTo>
                  <a:lnTo>
                    <a:pt x="74811" y="921346"/>
                  </a:lnTo>
                  <a:cubicBezTo>
                    <a:pt x="33494" y="921346"/>
                    <a:pt x="0" y="887852"/>
                    <a:pt x="0" y="846535"/>
                  </a:cubicBezTo>
                  <a:lnTo>
                    <a:pt x="0" y="74811"/>
                  </a:lnTo>
                  <a:cubicBezTo>
                    <a:pt x="0" y="33494"/>
                    <a:pt x="33494" y="0"/>
                    <a:pt x="7481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7ADAF">
                    <a:alpha val="100000"/>
                  </a:srgbClr>
                </a:gs>
                <a:gs pos="25000">
                  <a:srgbClr val="004C73">
                    <a:alpha val="100000"/>
                  </a:srgbClr>
                </a:gs>
                <a:gs pos="50000">
                  <a:srgbClr val="004C73">
                    <a:alpha val="100000"/>
                  </a:srgbClr>
                </a:gs>
                <a:gs pos="75000">
                  <a:srgbClr val="004B72">
                    <a:alpha val="100000"/>
                  </a:srgbClr>
                </a:gs>
                <a:gs pos="100000">
                  <a:srgbClr val="004B72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390043" cy="9594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4025590" y="1143000"/>
            <a:ext cx="12096994" cy="792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60"/>
              </a:lnSpc>
            </a:pPr>
            <a:r>
              <a:rPr lang="en-US" sz="6000" b="1">
                <a:solidFill>
                  <a:srgbClr val="001A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SYSTEM APPROACH</a:t>
            </a:r>
          </a:p>
        </p:txBody>
      </p:sp>
      <p:sp>
        <p:nvSpPr>
          <p:cNvPr id="13" name="Freeform 13"/>
          <p:cNvSpPr/>
          <p:nvPr/>
        </p:nvSpPr>
        <p:spPr>
          <a:xfrm>
            <a:off x="0" y="0"/>
            <a:ext cx="4330006" cy="1352555"/>
          </a:xfrm>
          <a:custGeom>
            <a:avLst/>
            <a:gdLst/>
            <a:ahLst/>
            <a:cxnLst/>
            <a:rect l="l" t="t" r="r" b="b"/>
            <a:pathLst>
              <a:path w="4330006" h="1352555">
                <a:moveTo>
                  <a:pt x="0" y="0"/>
                </a:moveTo>
                <a:lnTo>
                  <a:pt x="4330006" y="0"/>
                </a:lnTo>
                <a:lnTo>
                  <a:pt x="4330006" y="1352555"/>
                </a:lnTo>
                <a:lnTo>
                  <a:pt x="0" y="13525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77" b="-47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5720218" y="7640402"/>
            <a:ext cx="3078164" cy="3078164"/>
          </a:xfrm>
          <a:custGeom>
            <a:avLst/>
            <a:gdLst/>
            <a:ahLst/>
            <a:cxnLst/>
            <a:rect l="l" t="t" r="r" b="b"/>
            <a:pathLst>
              <a:path w="3078164" h="3078164">
                <a:moveTo>
                  <a:pt x="0" y="0"/>
                </a:moveTo>
                <a:lnTo>
                  <a:pt x="3078164" y="0"/>
                </a:lnTo>
                <a:lnTo>
                  <a:pt x="3078164" y="3078164"/>
                </a:lnTo>
                <a:lnTo>
                  <a:pt x="0" y="30781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0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-152400" y="8838477"/>
            <a:ext cx="1898062" cy="1448524"/>
          </a:xfrm>
          <a:custGeom>
            <a:avLst/>
            <a:gdLst/>
            <a:ahLst/>
            <a:cxnLst/>
            <a:rect l="l" t="t" r="r" b="b"/>
            <a:pathLst>
              <a:path w="2742838" h="1880091">
                <a:moveTo>
                  <a:pt x="0" y="0"/>
                </a:moveTo>
                <a:lnTo>
                  <a:pt x="2742838" y="0"/>
                </a:lnTo>
                <a:lnTo>
                  <a:pt x="2742838" y="1880090"/>
                </a:lnTo>
                <a:lnTo>
                  <a:pt x="0" y="18800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6506719" y="99902"/>
            <a:ext cx="1781282" cy="1935480"/>
          </a:xfrm>
          <a:custGeom>
            <a:avLst/>
            <a:gdLst/>
            <a:ahLst/>
            <a:cxnLst/>
            <a:rect l="l" t="t" r="r" b="b"/>
            <a:pathLst>
              <a:path w="1910847" h="1935480">
                <a:moveTo>
                  <a:pt x="0" y="0"/>
                </a:moveTo>
                <a:lnTo>
                  <a:pt x="1910847" y="0"/>
                </a:lnTo>
                <a:lnTo>
                  <a:pt x="1910847" y="1935480"/>
                </a:lnTo>
                <a:lnTo>
                  <a:pt x="0" y="19354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1652649" y="3773256"/>
            <a:ext cx="3805299" cy="81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Document Preparation</a:t>
            </a:r>
          </a:p>
          <a:p>
            <a:pPr algn="ctr">
              <a:lnSpc>
                <a:spcPts val="3359"/>
              </a:lnSpc>
            </a:pPr>
            <a:endParaRPr lang="en-US" sz="2400" b="1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8376495" y="3773256"/>
            <a:ext cx="1966099" cy="81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Retrieval</a:t>
            </a:r>
          </a:p>
          <a:p>
            <a:pPr algn="ctr">
              <a:lnSpc>
                <a:spcPts val="3359"/>
              </a:lnSpc>
            </a:pPr>
            <a:endParaRPr lang="en-US" sz="2400" b="1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3193654" y="3744829"/>
            <a:ext cx="3800471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Multi-Agent Reasoning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08295" y="4721124"/>
            <a:ext cx="3949653" cy="2520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ctr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Extract, chunk, classify medical PDFs</a:t>
            </a:r>
          </a:p>
          <a:p>
            <a:pPr marL="518160" lvl="1" indent="-259080" algn="ctr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Embed (Sentence-BERT)</a:t>
            </a:r>
          </a:p>
          <a:p>
            <a:pPr marL="518160" lvl="1" indent="-259080" algn="ctr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Index with FAISS</a:t>
            </a:r>
          </a:p>
          <a:p>
            <a:pPr algn="ctr">
              <a:lnSpc>
                <a:spcPts val="3359"/>
              </a:lnSpc>
            </a:pPr>
            <a:endParaRPr lang="en-US" sz="240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7595743" y="4721124"/>
            <a:ext cx="3937866" cy="843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58" lvl="1" indent="-259079" algn="ctr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Retrieve top-k relevant chunks per query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583652" y="4721124"/>
            <a:ext cx="4878490" cy="2520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just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Generator agent → draft answer</a:t>
            </a:r>
          </a:p>
          <a:p>
            <a:pPr marL="518160" lvl="1" indent="-259080" algn="just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Validator agent → accuracy + refinement</a:t>
            </a:r>
          </a:p>
          <a:p>
            <a:pPr marL="518160" lvl="1" indent="-259080" algn="just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Return final answer</a:t>
            </a:r>
          </a:p>
          <a:p>
            <a:pPr algn="just">
              <a:lnSpc>
                <a:spcPts val="3359"/>
              </a:lnSpc>
            </a:pPr>
            <a:endParaRPr lang="en-US" sz="240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7ADAF">
                <a:alpha val="100000"/>
              </a:srgbClr>
            </a:gs>
            <a:gs pos="25000">
              <a:srgbClr val="004C73">
                <a:alpha val="100000"/>
              </a:srgbClr>
            </a:gs>
            <a:gs pos="50000">
              <a:srgbClr val="004C73">
                <a:alpha val="100000"/>
              </a:srgbClr>
            </a:gs>
            <a:gs pos="75000">
              <a:srgbClr val="004B72">
                <a:alpha val="100000"/>
              </a:srgbClr>
            </a:gs>
            <a:gs pos="100000">
              <a:srgbClr val="004B72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71505" y="8348272"/>
            <a:ext cx="5237569" cy="910028"/>
          </a:xfrm>
          <a:custGeom>
            <a:avLst/>
            <a:gdLst/>
            <a:ahLst/>
            <a:cxnLst/>
            <a:rect l="l" t="t" r="r" b="b"/>
            <a:pathLst>
              <a:path w="5237569" h="910028">
                <a:moveTo>
                  <a:pt x="0" y="0"/>
                </a:moveTo>
                <a:lnTo>
                  <a:pt x="5237569" y="0"/>
                </a:lnTo>
                <a:lnTo>
                  <a:pt x="5237569" y="910028"/>
                </a:lnTo>
                <a:lnTo>
                  <a:pt x="0" y="910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1273546" y="8348272"/>
            <a:ext cx="5237569" cy="910028"/>
          </a:xfrm>
          <a:custGeom>
            <a:avLst/>
            <a:gdLst/>
            <a:ahLst/>
            <a:cxnLst/>
            <a:rect l="l" t="t" r="r" b="b"/>
            <a:pathLst>
              <a:path w="5237569" h="910028">
                <a:moveTo>
                  <a:pt x="0" y="0"/>
                </a:moveTo>
                <a:lnTo>
                  <a:pt x="5237569" y="0"/>
                </a:lnTo>
                <a:lnTo>
                  <a:pt x="5237569" y="910028"/>
                </a:lnTo>
                <a:lnTo>
                  <a:pt x="0" y="910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2942997" y="887215"/>
            <a:ext cx="13786647" cy="792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60"/>
              </a:lnSpc>
            </a:pPr>
            <a:r>
              <a:rPr lang="en-US" sz="60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SYSTEM ARCHITECTURE</a:t>
            </a:r>
          </a:p>
        </p:txBody>
      </p:sp>
      <p:sp>
        <p:nvSpPr>
          <p:cNvPr id="6" name="Freeform 6"/>
          <p:cNvSpPr/>
          <p:nvPr/>
        </p:nvSpPr>
        <p:spPr>
          <a:xfrm>
            <a:off x="0" y="0"/>
            <a:ext cx="3643867" cy="1138227"/>
          </a:xfrm>
          <a:custGeom>
            <a:avLst/>
            <a:gdLst/>
            <a:ahLst/>
            <a:cxnLst/>
            <a:rect l="l" t="t" r="r" b="b"/>
            <a:pathLst>
              <a:path w="3643867" h="1138227">
                <a:moveTo>
                  <a:pt x="0" y="0"/>
                </a:moveTo>
                <a:lnTo>
                  <a:pt x="3643867" y="0"/>
                </a:lnTo>
                <a:lnTo>
                  <a:pt x="3643867" y="1138227"/>
                </a:lnTo>
                <a:lnTo>
                  <a:pt x="0" y="11382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77" b="-477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3B01DA4-28F0-CAB8-B53B-864B7905D8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4200" y="2247900"/>
            <a:ext cx="13113333" cy="6781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798563" y="5699029"/>
            <a:ext cx="6641837" cy="4734369"/>
          </a:xfrm>
          <a:custGeom>
            <a:avLst/>
            <a:gdLst/>
            <a:ahLst/>
            <a:cxnLst/>
            <a:rect l="l" t="t" r="r" b="b"/>
            <a:pathLst>
              <a:path w="7339713" h="5312413">
                <a:moveTo>
                  <a:pt x="0" y="0"/>
                </a:moveTo>
                <a:lnTo>
                  <a:pt x="7339713" y="0"/>
                </a:lnTo>
                <a:lnTo>
                  <a:pt x="7339713" y="5312413"/>
                </a:lnTo>
                <a:lnTo>
                  <a:pt x="0" y="53124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1866846" y="5143500"/>
            <a:ext cx="6339807" cy="4734368"/>
          </a:xfrm>
          <a:custGeom>
            <a:avLst/>
            <a:gdLst/>
            <a:ahLst/>
            <a:cxnLst/>
            <a:rect l="l" t="t" r="r" b="b"/>
            <a:pathLst>
              <a:path w="6620787" h="4734368">
                <a:moveTo>
                  <a:pt x="0" y="0"/>
                </a:moveTo>
                <a:lnTo>
                  <a:pt x="6620787" y="0"/>
                </a:lnTo>
                <a:lnTo>
                  <a:pt x="6620787" y="4734368"/>
                </a:lnTo>
                <a:lnTo>
                  <a:pt x="0" y="47343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111" t="-987" r="-411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4928301" y="1133475"/>
            <a:ext cx="9153243" cy="1375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60"/>
              </a:lnSpc>
            </a:pPr>
            <a:r>
              <a:rPr lang="en-US" sz="5307" b="1">
                <a:solidFill>
                  <a:srgbClr val="001A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DOCUMENT PROCESSING PIPELINE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004146" y="1391201"/>
            <a:ext cx="1550970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ABOUT US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59458" y="4185601"/>
            <a:ext cx="9877187" cy="4609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0189" lvl="1" indent="-285094" algn="l">
              <a:lnSpc>
                <a:spcPts val="3697"/>
              </a:lnSpc>
              <a:buFont typeface="Arial"/>
              <a:buChar char="•"/>
            </a:pPr>
            <a:r>
              <a:rPr lang="en-US" sz="2640" b="1">
                <a:solidFill>
                  <a:srgbClr val="001A3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save_pdf() → Save uploaded PDF</a:t>
            </a:r>
          </a:p>
          <a:p>
            <a:pPr algn="l">
              <a:lnSpc>
                <a:spcPts val="3697"/>
              </a:lnSpc>
            </a:pPr>
            <a:endParaRPr lang="en-US" sz="2640" b="1">
              <a:solidFill>
                <a:srgbClr val="001A3D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570189" lvl="1" indent="-285094" algn="l">
              <a:lnSpc>
                <a:spcPts val="3697"/>
              </a:lnSpc>
              <a:buFont typeface="Arial"/>
              <a:buChar char="•"/>
            </a:pPr>
            <a:r>
              <a:rPr lang="en-US" sz="2640" b="1">
                <a:solidFill>
                  <a:srgbClr val="001A3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extract_pdf_text() → Extract raw text</a:t>
            </a:r>
          </a:p>
          <a:p>
            <a:pPr algn="l">
              <a:lnSpc>
                <a:spcPts val="3697"/>
              </a:lnSpc>
            </a:pPr>
            <a:endParaRPr lang="en-US" sz="2640" b="1">
              <a:solidFill>
                <a:srgbClr val="001A3D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570189" lvl="1" indent="-285094" algn="l">
              <a:lnSpc>
                <a:spcPts val="3697"/>
              </a:lnSpc>
              <a:buFont typeface="Arial"/>
              <a:buChar char="•"/>
            </a:pPr>
            <a:r>
              <a:rPr lang="en-US" sz="2640" b="1">
                <a:solidFill>
                  <a:srgbClr val="001A3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chunk_text() → Split into meaningful segments</a:t>
            </a:r>
          </a:p>
          <a:p>
            <a:pPr algn="l">
              <a:lnSpc>
                <a:spcPts val="3697"/>
              </a:lnSpc>
            </a:pPr>
            <a:endParaRPr lang="en-US" sz="2640" b="1">
              <a:solidFill>
                <a:srgbClr val="001A3D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570189" lvl="1" indent="-285094" algn="l">
              <a:lnSpc>
                <a:spcPts val="3697"/>
              </a:lnSpc>
              <a:buFont typeface="Arial"/>
              <a:buChar char="•"/>
            </a:pPr>
            <a:r>
              <a:rPr lang="en-US" sz="2640" b="1">
                <a:solidFill>
                  <a:srgbClr val="001A3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classification_agent() → Filter medical vs non-medical</a:t>
            </a:r>
          </a:p>
          <a:p>
            <a:pPr algn="l">
              <a:lnSpc>
                <a:spcPts val="3697"/>
              </a:lnSpc>
            </a:pPr>
            <a:endParaRPr lang="en-US" sz="2640" b="1">
              <a:solidFill>
                <a:srgbClr val="001A3D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570189" lvl="1" indent="-285094" algn="l">
              <a:lnSpc>
                <a:spcPts val="3697"/>
              </a:lnSpc>
              <a:buFont typeface="Arial"/>
              <a:buChar char="•"/>
            </a:pPr>
            <a:r>
              <a:rPr lang="en-US" sz="2640" b="1">
                <a:solidFill>
                  <a:srgbClr val="001A3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Sentence-BERT embeddings → Represent chunks</a:t>
            </a:r>
          </a:p>
          <a:p>
            <a:pPr algn="l">
              <a:lnSpc>
                <a:spcPts val="3697"/>
              </a:lnSpc>
            </a:pPr>
            <a:endParaRPr lang="en-US" sz="2640" b="1">
              <a:solidFill>
                <a:srgbClr val="001A3D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0" y="0"/>
            <a:ext cx="3643867" cy="1138227"/>
          </a:xfrm>
          <a:custGeom>
            <a:avLst/>
            <a:gdLst/>
            <a:ahLst/>
            <a:cxnLst/>
            <a:rect l="l" t="t" r="r" b="b"/>
            <a:pathLst>
              <a:path w="3643867" h="1138227">
                <a:moveTo>
                  <a:pt x="0" y="0"/>
                </a:moveTo>
                <a:lnTo>
                  <a:pt x="3643867" y="0"/>
                </a:lnTo>
                <a:lnTo>
                  <a:pt x="3643867" y="1138227"/>
                </a:lnTo>
                <a:lnTo>
                  <a:pt x="0" y="11382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77" b="-47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1028700" y="3935172"/>
            <a:ext cx="10407388" cy="5474884"/>
            <a:chOff x="0" y="0"/>
            <a:chExt cx="4614571" cy="24275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614571" cy="2427530"/>
            </a:xfrm>
            <a:custGeom>
              <a:avLst/>
              <a:gdLst/>
              <a:ahLst/>
              <a:cxnLst/>
              <a:rect l="l" t="t" r="r" b="b"/>
              <a:pathLst>
                <a:path w="4614571" h="2427530">
                  <a:moveTo>
                    <a:pt x="4490111" y="2427530"/>
                  </a:moveTo>
                  <a:lnTo>
                    <a:pt x="124460" y="2427530"/>
                  </a:lnTo>
                  <a:cubicBezTo>
                    <a:pt x="55880" y="2427530"/>
                    <a:pt x="0" y="2371650"/>
                    <a:pt x="0" y="230307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490112" y="0"/>
                  </a:lnTo>
                  <a:cubicBezTo>
                    <a:pt x="4558692" y="0"/>
                    <a:pt x="4614571" y="55880"/>
                    <a:pt x="4614571" y="124460"/>
                  </a:cubicBezTo>
                  <a:lnTo>
                    <a:pt x="4614571" y="2303070"/>
                  </a:lnTo>
                  <a:cubicBezTo>
                    <a:pt x="4614571" y="2371650"/>
                    <a:pt x="4558692" y="2427530"/>
                    <a:pt x="4490112" y="2427530"/>
                  </a:cubicBezTo>
                  <a:close/>
                </a:path>
              </a:pathLst>
            </a:custGeom>
            <a:solidFill>
              <a:srgbClr val="5C85A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701624" y="4344232"/>
            <a:ext cx="9877187" cy="4609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0189" lvl="1" indent="-285094" algn="l">
              <a:lnSpc>
                <a:spcPts val="3697"/>
              </a:lnSpc>
              <a:buFont typeface="Arial"/>
              <a:buChar char="•"/>
            </a:pPr>
            <a:r>
              <a:rPr lang="en-US" sz="264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save_pdf() → Save uploaded PDF</a:t>
            </a:r>
          </a:p>
          <a:p>
            <a:pPr algn="l">
              <a:lnSpc>
                <a:spcPts val="3697"/>
              </a:lnSpc>
            </a:pPr>
            <a:endParaRPr lang="en-US" sz="2640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570189" lvl="1" indent="-285094" algn="l">
              <a:lnSpc>
                <a:spcPts val="3697"/>
              </a:lnSpc>
              <a:buFont typeface="Arial"/>
              <a:buChar char="•"/>
            </a:pPr>
            <a:r>
              <a:rPr lang="en-US" sz="264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extract_pdf_text() → Extract raw text</a:t>
            </a:r>
          </a:p>
          <a:p>
            <a:pPr algn="l">
              <a:lnSpc>
                <a:spcPts val="3697"/>
              </a:lnSpc>
            </a:pPr>
            <a:endParaRPr lang="en-US" sz="2640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570189" lvl="1" indent="-285094" algn="l">
              <a:lnSpc>
                <a:spcPts val="3697"/>
              </a:lnSpc>
              <a:buFont typeface="Arial"/>
              <a:buChar char="•"/>
            </a:pPr>
            <a:r>
              <a:rPr lang="en-US" sz="264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chunk_text() → Split into meaningful segments</a:t>
            </a:r>
          </a:p>
          <a:p>
            <a:pPr algn="l">
              <a:lnSpc>
                <a:spcPts val="3697"/>
              </a:lnSpc>
            </a:pPr>
            <a:endParaRPr lang="en-US" sz="2640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570189" lvl="1" indent="-285094" algn="l">
              <a:lnSpc>
                <a:spcPts val="3697"/>
              </a:lnSpc>
              <a:buFont typeface="Arial"/>
              <a:buChar char="•"/>
            </a:pPr>
            <a:r>
              <a:rPr lang="en-US" sz="264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classification_agent() → Filter medical vs non-medical</a:t>
            </a:r>
          </a:p>
          <a:p>
            <a:pPr algn="l">
              <a:lnSpc>
                <a:spcPts val="3697"/>
              </a:lnSpc>
            </a:pPr>
            <a:endParaRPr lang="en-US" sz="2640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570189" lvl="1" indent="-285094" algn="l">
              <a:lnSpc>
                <a:spcPts val="3697"/>
              </a:lnSpc>
              <a:buFont typeface="Arial"/>
              <a:buChar char="•"/>
            </a:pPr>
            <a:r>
              <a:rPr lang="en-US" sz="264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Sentence-BERT embeddings → Represent chunks</a:t>
            </a:r>
          </a:p>
          <a:p>
            <a:pPr algn="l">
              <a:lnSpc>
                <a:spcPts val="3697"/>
              </a:lnSpc>
            </a:pPr>
            <a:endParaRPr lang="en-US" sz="2640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619027" y="2805451"/>
            <a:ext cx="5845302" cy="1629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05"/>
              </a:lnSpc>
            </a:pPr>
            <a:r>
              <a:rPr lang="en-US" sz="3352" b="1">
                <a:solidFill>
                  <a:srgbClr val="001A3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Upload medical PDFs</a:t>
            </a:r>
          </a:p>
          <a:p>
            <a:pPr algn="l">
              <a:lnSpc>
                <a:spcPts val="6705"/>
              </a:lnSpc>
            </a:pPr>
            <a:endParaRPr lang="en-US" sz="3352" b="1">
              <a:solidFill>
                <a:srgbClr val="001A3D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488867" y="2997602"/>
            <a:ext cx="616239" cy="616239"/>
            <a:chOff x="0" y="0"/>
            <a:chExt cx="6350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579382" y="2983343"/>
            <a:ext cx="435209" cy="539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11"/>
              </a:lnSpc>
            </a:pPr>
            <a:r>
              <a:rPr lang="en-US" sz="2873" b="1">
                <a:solidFill>
                  <a:srgbClr val="F0F6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619027" y="3828847"/>
            <a:ext cx="5845302" cy="777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6705"/>
              </a:lnSpc>
              <a:spcBef>
                <a:spcPct val="0"/>
              </a:spcBef>
            </a:pPr>
            <a:r>
              <a:rPr lang="en-US" sz="3352" b="1">
                <a:solidFill>
                  <a:srgbClr val="001A3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Ask question in Streamlit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488867" y="4019220"/>
            <a:ext cx="616239" cy="616239"/>
            <a:chOff x="0" y="0"/>
            <a:chExt cx="6350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579382" y="4004961"/>
            <a:ext cx="435209" cy="539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511"/>
              </a:lnSpc>
              <a:spcBef>
                <a:spcPct val="0"/>
              </a:spcBef>
            </a:pPr>
            <a:r>
              <a:rPr lang="en-US" sz="2873" b="1" u="none">
                <a:solidFill>
                  <a:srgbClr val="F0F6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619027" y="5875641"/>
            <a:ext cx="7000119" cy="777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6705"/>
              </a:lnSpc>
              <a:spcBef>
                <a:spcPct val="0"/>
              </a:spcBef>
            </a:pPr>
            <a:r>
              <a:rPr lang="en-US" sz="3352" b="1">
                <a:solidFill>
                  <a:srgbClr val="001A3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FAISS retrieves relevant sections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488867" y="6062457"/>
            <a:ext cx="616239" cy="616239"/>
            <a:chOff x="0" y="0"/>
            <a:chExt cx="6350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579382" y="6048198"/>
            <a:ext cx="435209" cy="539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511"/>
              </a:lnSpc>
              <a:spcBef>
                <a:spcPct val="0"/>
              </a:spcBef>
            </a:pPr>
            <a:r>
              <a:rPr lang="en-US" sz="2873" b="1" u="none">
                <a:solidFill>
                  <a:srgbClr val="F0F6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619027" y="4852244"/>
            <a:ext cx="6576199" cy="1629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05"/>
              </a:lnSpc>
            </a:pPr>
            <a:r>
              <a:rPr lang="en-US" sz="3352" b="1">
                <a:solidFill>
                  <a:srgbClr val="001A3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FastAPI triggers RAG pipeline</a:t>
            </a:r>
          </a:p>
          <a:p>
            <a:pPr marL="0" lvl="1" indent="0" algn="l">
              <a:lnSpc>
                <a:spcPts val="6705"/>
              </a:lnSpc>
              <a:spcBef>
                <a:spcPct val="0"/>
              </a:spcBef>
            </a:pPr>
            <a:endParaRPr lang="en-US" sz="3352" b="1">
              <a:solidFill>
                <a:srgbClr val="001A3D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1488867" y="5040839"/>
            <a:ext cx="616239" cy="616239"/>
            <a:chOff x="0" y="0"/>
            <a:chExt cx="6350000" cy="6350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579382" y="5026579"/>
            <a:ext cx="435209" cy="539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511"/>
              </a:lnSpc>
              <a:spcBef>
                <a:spcPct val="0"/>
              </a:spcBef>
            </a:pPr>
            <a:r>
              <a:rPr lang="en-US" sz="2873" b="1" u="none">
                <a:solidFill>
                  <a:srgbClr val="F0F6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619027" y="6899037"/>
            <a:ext cx="7453276" cy="777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6705"/>
              </a:lnSpc>
              <a:spcBef>
                <a:spcPct val="0"/>
              </a:spcBef>
            </a:pPr>
            <a:r>
              <a:rPr lang="en-US" sz="3352" b="1">
                <a:solidFill>
                  <a:srgbClr val="001A3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Generator creates draft answer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488867" y="7084076"/>
            <a:ext cx="616239" cy="616239"/>
            <a:chOff x="0" y="0"/>
            <a:chExt cx="6350000" cy="6350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579382" y="7069816"/>
            <a:ext cx="435209" cy="539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511"/>
              </a:lnSpc>
              <a:spcBef>
                <a:spcPct val="0"/>
              </a:spcBef>
            </a:pPr>
            <a:r>
              <a:rPr lang="en-US" sz="2873" b="1" u="none">
                <a:solidFill>
                  <a:srgbClr val="F0F6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229312" y="586126"/>
            <a:ext cx="5685982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r>
              <a:rPr lang="en-US" sz="8000" b="1">
                <a:solidFill>
                  <a:srgbClr val="001A3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Demo Flow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488867" y="7968986"/>
            <a:ext cx="616239" cy="616239"/>
            <a:chOff x="0" y="0"/>
            <a:chExt cx="6350000" cy="63500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2619027" y="7773987"/>
            <a:ext cx="7453276" cy="72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6300"/>
              </a:lnSpc>
              <a:spcBef>
                <a:spcPct val="0"/>
              </a:spcBef>
            </a:pPr>
            <a:r>
              <a:rPr lang="en-US" sz="3150" b="1">
                <a:solidFill>
                  <a:srgbClr val="001A3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Validator finalizes it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195621" y="8676799"/>
            <a:ext cx="9372600" cy="7274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5"/>
              </a:lnSpc>
              <a:spcBef>
                <a:spcPct val="0"/>
              </a:spcBef>
            </a:pPr>
            <a:r>
              <a:rPr lang="en-US" sz="3152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UI displays final medically-grounded output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488867" y="8875474"/>
            <a:ext cx="616239" cy="616239"/>
            <a:chOff x="0" y="0"/>
            <a:chExt cx="6350000" cy="63500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579382" y="7954726"/>
            <a:ext cx="435209" cy="539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511"/>
              </a:lnSpc>
              <a:spcBef>
                <a:spcPct val="0"/>
              </a:spcBef>
            </a:pPr>
            <a:r>
              <a:rPr lang="en-US" sz="2873" b="1">
                <a:solidFill>
                  <a:srgbClr val="F0F6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579382" y="8806645"/>
            <a:ext cx="435209" cy="111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11"/>
              </a:lnSpc>
            </a:pPr>
            <a:r>
              <a:rPr lang="en-US" sz="2873" b="1">
                <a:solidFill>
                  <a:srgbClr val="F0F6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7</a:t>
            </a:r>
          </a:p>
          <a:p>
            <a:pPr marL="0" lvl="1" indent="0" algn="ctr">
              <a:lnSpc>
                <a:spcPts val="4511"/>
              </a:lnSpc>
              <a:spcBef>
                <a:spcPct val="0"/>
              </a:spcBef>
            </a:pPr>
            <a:endParaRPr lang="en-US" sz="2873" b="1">
              <a:solidFill>
                <a:srgbClr val="F0F6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31" name="Freeform 31"/>
          <p:cNvSpPr/>
          <p:nvPr/>
        </p:nvSpPr>
        <p:spPr>
          <a:xfrm>
            <a:off x="0" y="0"/>
            <a:ext cx="3643867" cy="1138227"/>
          </a:xfrm>
          <a:custGeom>
            <a:avLst/>
            <a:gdLst/>
            <a:ahLst/>
            <a:cxnLst/>
            <a:rect l="l" t="t" r="r" b="b"/>
            <a:pathLst>
              <a:path w="3643867" h="1138227">
                <a:moveTo>
                  <a:pt x="0" y="0"/>
                </a:moveTo>
                <a:lnTo>
                  <a:pt x="3643867" y="0"/>
                </a:lnTo>
                <a:lnTo>
                  <a:pt x="3643867" y="1138227"/>
                </a:lnTo>
                <a:lnTo>
                  <a:pt x="0" y="11382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77" b="-477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262171">
            <a:off x="3492400" y="3970647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441338" flipH="1">
            <a:off x="1589676" y="5876162"/>
            <a:ext cx="7090051" cy="4450271"/>
          </a:xfrm>
          <a:custGeom>
            <a:avLst/>
            <a:gdLst/>
            <a:ahLst/>
            <a:cxnLst/>
            <a:rect l="l" t="t" r="r" b="b"/>
            <a:pathLst>
              <a:path w="7090051" h="4450271">
                <a:moveTo>
                  <a:pt x="7090051" y="0"/>
                </a:moveTo>
                <a:lnTo>
                  <a:pt x="0" y="0"/>
                </a:lnTo>
                <a:lnTo>
                  <a:pt x="0" y="4450270"/>
                </a:lnTo>
                <a:lnTo>
                  <a:pt x="7090051" y="4450270"/>
                </a:lnTo>
                <a:lnTo>
                  <a:pt x="709005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441338" flipH="1">
            <a:off x="8620022" y="5876162"/>
            <a:ext cx="7090051" cy="4450271"/>
          </a:xfrm>
          <a:custGeom>
            <a:avLst/>
            <a:gdLst/>
            <a:ahLst/>
            <a:cxnLst/>
            <a:rect l="l" t="t" r="r" b="b"/>
            <a:pathLst>
              <a:path w="7090051" h="4450271">
                <a:moveTo>
                  <a:pt x="7090051" y="0"/>
                </a:moveTo>
                <a:lnTo>
                  <a:pt x="0" y="0"/>
                </a:lnTo>
                <a:lnTo>
                  <a:pt x="0" y="4450270"/>
                </a:lnTo>
                <a:lnTo>
                  <a:pt x="7090051" y="4450270"/>
                </a:lnTo>
                <a:lnTo>
                  <a:pt x="709005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441338" flipH="1">
            <a:off x="2577927" y="2244644"/>
            <a:ext cx="7090051" cy="4450271"/>
          </a:xfrm>
          <a:custGeom>
            <a:avLst/>
            <a:gdLst/>
            <a:ahLst/>
            <a:cxnLst/>
            <a:rect l="l" t="t" r="r" b="b"/>
            <a:pathLst>
              <a:path w="7090051" h="4450271">
                <a:moveTo>
                  <a:pt x="7090051" y="0"/>
                </a:moveTo>
                <a:lnTo>
                  <a:pt x="0" y="0"/>
                </a:lnTo>
                <a:lnTo>
                  <a:pt x="0" y="4450271"/>
                </a:lnTo>
                <a:lnTo>
                  <a:pt x="7090051" y="4450271"/>
                </a:lnTo>
                <a:lnTo>
                  <a:pt x="709005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441338" flipH="1">
            <a:off x="9608273" y="2244644"/>
            <a:ext cx="7090051" cy="4450271"/>
          </a:xfrm>
          <a:custGeom>
            <a:avLst/>
            <a:gdLst/>
            <a:ahLst/>
            <a:cxnLst/>
            <a:rect l="l" t="t" r="r" b="b"/>
            <a:pathLst>
              <a:path w="7090051" h="4450271">
                <a:moveTo>
                  <a:pt x="7090051" y="0"/>
                </a:moveTo>
                <a:lnTo>
                  <a:pt x="0" y="0"/>
                </a:lnTo>
                <a:lnTo>
                  <a:pt x="0" y="4450271"/>
                </a:lnTo>
                <a:lnTo>
                  <a:pt x="7090051" y="4450271"/>
                </a:lnTo>
                <a:lnTo>
                  <a:pt x="709005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2596515" y="4509135"/>
            <a:ext cx="558165" cy="1234440"/>
            <a:chOff x="0" y="0"/>
            <a:chExt cx="744220" cy="1645920"/>
          </a:xfrm>
        </p:grpSpPr>
        <p:sp>
          <p:nvSpPr>
            <p:cNvPr id="8" name="Freeform 8"/>
            <p:cNvSpPr/>
            <p:nvPr/>
          </p:nvSpPr>
          <p:spPr>
            <a:xfrm>
              <a:off x="48790" y="50564"/>
              <a:ext cx="644826" cy="1544747"/>
            </a:xfrm>
            <a:custGeom>
              <a:avLst/>
              <a:gdLst/>
              <a:ahLst/>
              <a:cxnLst/>
              <a:rect l="l" t="t" r="r" b="b"/>
              <a:pathLst>
                <a:path w="644826" h="1544747">
                  <a:moveTo>
                    <a:pt x="167110" y="65006"/>
                  </a:moveTo>
                  <a:cubicBezTo>
                    <a:pt x="281410" y="550146"/>
                    <a:pt x="322050" y="688576"/>
                    <a:pt x="357610" y="782556"/>
                  </a:cubicBezTo>
                  <a:cubicBezTo>
                    <a:pt x="381740" y="847326"/>
                    <a:pt x="410950" y="886696"/>
                    <a:pt x="431270" y="943846"/>
                  </a:cubicBezTo>
                  <a:cubicBezTo>
                    <a:pt x="452860" y="1007346"/>
                    <a:pt x="456670" y="1083546"/>
                    <a:pt x="478260" y="1147046"/>
                  </a:cubicBezTo>
                  <a:cubicBezTo>
                    <a:pt x="498580" y="1206736"/>
                    <a:pt x="525250" y="1268966"/>
                    <a:pt x="554460" y="1314686"/>
                  </a:cubicBezTo>
                  <a:cubicBezTo>
                    <a:pt x="578590" y="1351516"/>
                    <a:pt x="621770" y="1383266"/>
                    <a:pt x="634470" y="1406126"/>
                  </a:cubicBezTo>
                  <a:cubicBezTo>
                    <a:pt x="640820" y="1417556"/>
                    <a:pt x="643360" y="1423906"/>
                    <a:pt x="644630" y="1435336"/>
                  </a:cubicBezTo>
                  <a:cubicBezTo>
                    <a:pt x="645900" y="1450576"/>
                    <a:pt x="640820" y="1479786"/>
                    <a:pt x="634470" y="1495026"/>
                  </a:cubicBezTo>
                  <a:cubicBezTo>
                    <a:pt x="630660" y="1505186"/>
                    <a:pt x="625580" y="1511536"/>
                    <a:pt x="616690" y="1519156"/>
                  </a:cubicBezTo>
                  <a:cubicBezTo>
                    <a:pt x="603990" y="1529316"/>
                    <a:pt x="579860" y="1542016"/>
                    <a:pt x="560810" y="1544556"/>
                  </a:cubicBezTo>
                  <a:cubicBezTo>
                    <a:pt x="543030" y="1545826"/>
                    <a:pt x="518900" y="1540746"/>
                    <a:pt x="502390" y="1530586"/>
                  </a:cubicBezTo>
                  <a:cubicBezTo>
                    <a:pt x="485880" y="1521696"/>
                    <a:pt x="470640" y="1500106"/>
                    <a:pt x="463020" y="1484866"/>
                  </a:cubicBezTo>
                  <a:cubicBezTo>
                    <a:pt x="457940" y="1474706"/>
                    <a:pt x="456670" y="1467086"/>
                    <a:pt x="456670" y="1455656"/>
                  </a:cubicBezTo>
                  <a:cubicBezTo>
                    <a:pt x="457940" y="1439146"/>
                    <a:pt x="461750" y="1412476"/>
                    <a:pt x="473180" y="1397236"/>
                  </a:cubicBezTo>
                  <a:cubicBezTo>
                    <a:pt x="483340" y="1380726"/>
                    <a:pt x="506200" y="1366756"/>
                    <a:pt x="521440" y="1360406"/>
                  </a:cubicBezTo>
                  <a:cubicBezTo>
                    <a:pt x="531600" y="1356596"/>
                    <a:pt x="541760" y="1355326"/>
                    <a:pt x="551920" y="1355326"/>
                  </a:cubicBezTo>
                  <a:cubicBezTo>
                    <a:pt x="560810" y="1355326"/>
                    <a:pt x="570970" y="1356596"/>
                    <a:pt x="581130" y="1360406"/>
                  </a:cubicBezTo>
                  <a:cubicBezTo>
                    <a:pt x="596370" y="1366756"/>
                    <a:pt x="619230" y="1384536"/>
                    <a:pt x="629390" y="1397236"/>
                  </a:cubicBezTo>
                  <a:cubicBezTo>
                    <a:pt x="637010" y="1406126"/>
                    <a:pt x="639550" y="1413746"/>
                    <a:pt x="642090" y="1425176"/>
                  </a:cubicBezTo>
                  <a:cubicBezTo>
                    <a:pt x="645900" y="1440416"/>
                    <a:pt x="645900" y="1467086"/>
                    <a:pt x="639550" y="1484866"/>
                  </a:cubicBezTo>
                  <a:cubicBezTo>
                    <a:pt x="631930" y="1502646"/>
                    <a:pt x="612880" y="1521696"/>
                    <a:pt x="600180" y="1530586"/>
                  </a:cubicBezTo>
                  <a:cubicBezTo>
                    <a:pt x="590020" y="1538206"/>
                    <a:pt x="582400" y="1540746"/>
                    <a:pt x="570970" y="1542016"/>
                  </a:cubicBezTo>
                  <a:cubicBezTo>
                    <a:pt x="555730" y="1544556"/>
                    <a:pt x="532870" y="1547096"/>
                    <a:pt x="511280" y="1535666"/>
                  </a:cubicBezTo>
                  <a:cubicBezTo>
                    <a:pt x="469370" y="1514076"/>
                    <a:pt x="402060" y="1417556"/>
                    <a:pt x="369040" y="1364216"/>
                  </a:cubicBezTo>
                  <a:cubicBezTo>
                    <a:pt x="344910" y="1326116"/>
                    <a:pt x="337290" y="1299446"/>
                    <a:pt x="320780" y="1253726"/>
                  </a:cubicBezTo>
                  <a:cubicBezTo>
                    <a:pt x="295380" y="1181336"/>
                    <a:pt x="272520" y="1067036"/>
                    <a:pt x="240770" y="966706"/>
                  </a:cubicBezTo>
                  <a:cubicBezTo>
                    <a:pt x="206480" y="854946"/>
                    <a:pt x="149330" y="717786"/>
                    <a:pt x="118850" y="612376"/>
                  </a:cubicBezTo>
                  <a:cubicBezTo>
                    <a:pt x="93450" y="529826"/>
                    <a:pt x="79480" y="468866"/>
                    <a:pt x="61700" y="386316"/>
                  </a:cubicBezTo>
                  <a:cubicBezTo>
                    <a:pt x="40110" y="288526"/>
                    <a:pt x="-10690" y="120886"/>
                    <a:pt x="2010" y="62466"/>
                  </a:cubicBezTo>
                  <a:cubicBezTo>
                    <a:pt x="8360" y="37066"/>
                    <a:pt x="21060" y="24366"/>
                    <a:pt x="37570" y="12936"/>
                  </a:cubicBezTo>
                  <a:cubicBezTo>
                    <a:pt x="52810" y="2776"/>
                    <a:pt x="78210" y="-1034"/>
                    <a:pt x="95990" y="236"/>
                  </a:cubicBezTo>
                  <a:cubicBezTo>
                    <a:pt x="109960" y="1506"/>
                    <a:pt x="122660" y="5316"/>
                    <a:pt x="134090" y="15476"/>
                  </a:cubicBezTo>
                  <a:cubicBezTo>
                    <a:pt x="146790" y="25636"/>
                    <a:pt x="167110" y="65006"/>
                    <a:pt x="167110" y="65006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106102" y="5699760"/>
            <a:ext cx="194310" cy="197167"/>
            <a:chOff x="0" y="0"/>
            <a:chExt cx="259080" cy="262890"/>
          </a:xfrm>
        </p:grpSpPr>
        <p:sp>
          <p:nvSpPr>
            <p:cNvPr id="10" name="Freeform 10"/>
            <p:cNvSpPr/>
            <p:nvPr/>
          </p:nvSpPr>
          <p:spPr>
            <a:xfrm>
              <a:off x="46003" y="49802"/>
              <a:ext cx="158467" cy="163241"/>
            </a:xfrm>
            <a:custGeom>
              <a:avLst/>
              <a:gdLst/>
              <a:ahLst/>
              <a:cxnLst/>
              <a:rect l="l" t="t" r="r" b="b"/>
              <a:pathLst>
                <a:path w="158467" h="163241">
                  <a:moveTo>
                    <a:pt x="158467" y="55608"/>
                  </a:moveTo>
                  <a:cubicBezTo>
                    <a:pt x="154657" y="114028"/>
                    <a:pt x="130527" y="144508"/>
                    <a:pt x="112747" y="154668"/>
                  </a:cubicBezTo>
                  <a:cubicBezTo>
                    <a:pt x="101317" y="162288"/>
                    <a:pt x="88617" y="164828"/>
                    <a:pt x="74647" y="162288"/>
                  </a:cubicBezTo>
                  <a:cubicBezTo>
                    <a:pt x="54327" y="158478"/>
                    <a:pt x="20037" y="141968"/>
                    <a:pt x="8607" y="122918"/>
                  </a:cubicBezTo>
                  <a:cubicBezTo>
                    <a:pt x="-2823" y="102598"/>
                    <a:pt x="-1553" y="64498"/>
                    <a:pt x="4797" y="45448"/>
                  </a:cubicBezTo>
                  <a:cubicBezTo>
                    <a:pt x="8607" y="31478"/>
                    <a:pt x="16227" y="22588"/>
                    <a:pt x="28927" y="14968"/>
                  </a:cubicBezTo>
                  <a:cubicBezTo>
                    <a:pt x="45437" y="4808"/>
                    <a:pt x="84807" y="-2812"/>
                    <a:pt x="103857" y="998"/>
                  </a:cubicBezTo>
                  <a:cubicBezTo>
                    <a:pt x="117827" y="3538"/>
                    <a:pt x="138147" y="21318"/>
                    <a:pt x="138147" y="21318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724900" y="3016567"/>
            <a:ext cx="644843" cy="566738"/>
            <a:chOff x="0" y="0"/>
            <a:chExt cx="859790" cy="755650"/>
          </a:xfrm>
        </p:grpSpPr>
        <p:sp>
          <p:nvSpPr>
            <p:cNvPr id="12" name="Freeform 12"/>
            <p:cNvSpPr/>
            <p:nvPr/>
          </p:nvSpPr>
          <p:spPr>
            <a:xfrm>
              <a:off x="50800" y="49378"/>
              <a:ext cx="758190" cy="654491"/>
            </a:xfrm>
            <a:custGeom>
              <a:avLst/>
              <a:gdLst/>
              <a:ahLst/>
              <a:cxnLst/>
              <a:rect l="l" t="t" r="r" b="b"/>
              <a:pathLst>
                <a:path w="758190" h="654491">
                  <a:moveTo>
                    <a:pt x="123190" y="6502"/>
                  </a:moveTo>
                  <a:cubicBezTo>
                    <a:pt x="515620" y="282092"/>
                    <a:pt x="695960" y="439572"/>
                    <a:pt x="739140" y="504342"/>
                  </a:cubicBezTo>
                  <a:cubicBezTo>
                    <a:pt x="754380" y="527202"/>
                    <a:pt x="758190" y="541172"/>
                    <a:pt x="758190" y="560222"/>
                  </a:cubicBezTo>
                  <a:cubicBezTo>
                    <a:pt x="758190" y="579272"/>
                    <a:pt x="751840" y="600862"/>
                    <a:pt x="740410" y="616102"/>
                  </a:cubicBezTo>
                  <a:cubicBezTo>
                    <a:pt x="728980" y="631342"/>
                    <a:pt x="709930" y="645312"/>
                    <a:pt x="692150" y="650392"/>
                  </a:cubicBezTo>
                  <a:cubicBezTo>
                    <a:pt x="673100" y="655472"/>
                    <a:pt x="650240" y="654202"/>
                    <a:pt x="632460" y="647852"/>
                  </a:cubicBezTo>
                  <a:cubicBezTo>
                    <a:pt x="614680" y="641502"/>
                    <a:pt x="596900" y="622452"/>
                    <a:pt x="586740" y="609752"/>
                  </a:cubicBezTo>
                  <a:cubicBezTo>
                    <a:pt x="580390" y="600862"/>
                    <a:pt x="576580" y="593242"/>
                    <a:pt x="575310" y="581812"/>
                  </a:cubicBezTo>
                  <a:cubicBezTo>
                    <a:pt x="572770" y="566572"/>
                    <a:pt x="575310" y="538632"/>
                    <a:pt x="581660" y="523392"/>
                  </a:cubicBezTo>
                  <a:cubicBezTo>
                    <a:pt x="585470" y="513232"/>
                    <a:pt x="589280" y="505612"/>
                    <a:pt x="598170" y="497992"/>
                  </a:cubicBezTo>
                  <a:cubicBezTo>
                    <a:pt x="609600" y="487832"/>
                    <a:pt x="631190" y="472592"/>
                    <a:pt x="648970" y="470052"/>
                  </a:cubicBezTo>
                  <a:cubicBezTo>
                    <a:pt x="668020" y="466242"/>
                    <a:pt x="693420" y="472592"/>
                    <a:pt x="708660" y="478942"/>
                  </a:cubicBezTo>
                  <a:cubicBezTo>
                    <a:pt x="718820" y="482752"/>
                    <a:pt x="725170" y="489102"/>
                    <a:pt x="732790" y="496722"/>
                  </a:cubicBezTo>
                  <a:cubicBezTo>
                    <a:pt x="739140" y="503072"/>
                    <a:pt x="745490" y="510692"/>
                    <a:pt x="749300" y="520852"/>
                  </a:cubicBezTo>
                  <a:cubicBezTo>
                    <a:pt x="754380" y="536092"/>
                    <a:pt x="760730" y="561492"/>
                    <a:pt x="756920" y="580542"/>
                  </a:cubicBezTo>
                  <a:cubicBezTo>
                    <a:pt x="753110" y="598322"/>
                    <a:pt x="740410" y="618642"/>
                    <a:pt x="726440" y="631342"/>
                  </a:cubicBezTo>
                  <a:cubicBezTo>
                    <a:pt x="712470" y="642772"/>
                    <a:pt x="690880" y="652932"/>
                    <a:pt x="671830" y="654202"/>
                  </a:cubicBezTo>
                  <a:cubicBezTo>
                    <a:pt x="652780" y="655472"/>
                    <a:pt x="638810" y="652932"/>
                    <a:pt x="614680" y="638962"/>
                  </a:cubicBezTo>
                  <a:cubicBezTo>
                    <a:pt x="543560" y="598322"/>
                    <a:pt x="378460" y="386232"/>
                    <a:pt x="266700" y="296062"/>
                  </a:cubicBezTo>
                  <a:cubicBezTo>
                    <a:pt x="180340" y="226212"/>
                    <a:pt x="49530" y="179222"/>
                    <a:pt x="16510" y="132232"/>
                  </a:cubicBezTo>
                  <a:cubicBezTo>
                    <a:pt x="1270" y="111912"/>
                    <a:pt x="0" y="91592"/>
                    <a:pt x="0" y="73812"/>
                  </a:cubicBezTo>
                  <a:cubicBezTo>
                    <a:pt x="1270" y="59842"/>
                    <a:pt x="5080" y="47142"/>
                    <a:pt x="13970" y="35712"/>
                  </a:cubicBezTo>
                  <a:cubicBezTo>
                    <a:pt x="24130" y="21742"/>
                    <a:pt x="44450" y="5232"/>
                    <a:pt x="63500" y="1422"/>
                  </a:cubicBezTo>
                  <a:cubicBezTo>
                    <a:pt x="81280" y="-3658"/>
                    <a:pt x="123190" y="6502"/>
                    <a:pt x="123190" y="6502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100310" y="5636895"/>
            <a:ext cx="739140" cy="760095"/>
            <a:chOff x="0" y="0"/>
            <a:chExt cx="985520" cy="1013460"/>
          </a:xfrm>
        </p:grpSpPr>
        <p:sp>
          <p:nvSpPr>
            <p:cNvPr id="14" name="Freeform 14"/>
            <p:cNvSpPr/>
            <p:nvPr/>
          </p:nvSpPr>
          <p:spPr>
            <a:xfrm>
              <a:off x="49866" y="46185"/>
              <a:ext cx="885078" cy="917946"/>
            </a:xfrm>
            <a:custGeom>
              <a:avLst/>
              <a:gdLst/>
              <a:ahLst/>
              <a:cxnLst/>
              <a:rect l="l" t="t" r="r" b="b"/>
              <a:pathLst>
                <a:path w="885078" h="917946">
                  <a:moveTo>
                    <a:pt x="160954" y="46525"/>
                  </a:moveTo>
                  <a:cubicBezTo>
                    <a:pt x="224454" y="158285"/>
                    <a:pt x="313354" y="282745"/>
                    <a:pt x="393364" y="370375"/>
                  </a:cubicBezTo>
                  <a:cubicBezTo>
                    <a:pt x="482264" y="466895"/>
                    <a:pt x="618154" y="586275"/>
                    <a:pt x="703244" y="652315"/>
                  </a:cubicBezTo>
                  <a:cubicBezTo>
                    <a:pt x="755314" y="694225"/>
                    <a:pt x="807384" y="717085"/>
                    <a:pt x="837864" y="743755"/>
                  </a:cubicBezTo>
                  <a:cubicBezTo>
                    <a:pt x="855644" y="760265"/>
                    <a:pt x="869614" y="774235"/>
                    <a:pt x="877234" y="788205"/>
                  </a:cubicBezTo>
                  <a:cubicBezTo>
                    <a:pt x="882314" y="798365"/>
                    <a:pt x="884854" y="805985"/>
                    <a:pt x="884854" y="817415"/>
                  </a:cubicBezTo>
                  <a:cubicBezTo>
                    <a:pt x="884854" y="832655"/>
                    <a:pt x="881044" y="858055"/>
                    <a:pt x="870884" y="874565"/>
                  </a:cubicBezTo>
                  <a:cubicBezTo>
                    <a:pt x="860724" y="889805"/>
                    <a:pt x="842944" y="905045"/>
                    <a:pt x="825164" y="911395"/>
                  </a:cubicBezTo>
                  <a:cubicBezTo>
                    <a:pt x="807384" y="917745"/>
                    <a:pt x="781984" y="916475"/>
                    <a:pt x="765474" y="913935"/>
                  </a:cubicBezTo>
                  <a:cubicBezTo>
                    <a:pt x="755314" y="911395"/>
                    <a:pt x="747694" y="907585"/>
                    <a:pt x="738804" y="899965"/>
                  </a:cubicBezTo>
                  <a:cubicBezTo>
                    <a:pt x="727374" y="889805"/>
                    <a:pt x="709594" y="870755"/>
                    <a:pt x="704514" y="852975"/>
                  </a:cubicBezTo>
                  <a:cubicBezTo>
                    <a:pt x="698164" y="835195"/>
                    <a:pt x="699434" y="811065"/>
                    <a:pt x="705784" y="793285"/>
                  </a:cubicBezTo>
                  <a:cubicBezTo>
                    <a:pt x="712134" y="775505"/>
                    <a:pt x="729914" y="756455"/>
                    <a:pt x="742614" y="747565"/>
                  </a:cubicBezTo>
                  <a:cubicBezTo>
                    <a:pt x="751504" y="739945"/>
                    <a:pt x="760394" y="737405"/>
                    <a:pt x="770554" y="734865"/>
                  </a:cubicBezTo>
                  <a:cubicBezTo>
                    <a:pt x="779444" y="732325"/>
                    <a:pt x="788334" y="731055"/>
                    <a:pt x="799764" y="732325"/>
                  </a:cubicBezTo>
                  <a:cubicBezTo>
                    <a:pt x="815004" y="734865"/>
                    <a:pt x="840404" y="743755"/>
                    <a:pt x="854374" y="755185"/>
                  </a:cubicBezTo>
                  <a:cubicBezTo>
                    <a:pt x="868344" y="767885"/>
                    <a:pt x="879774" y="788205"/>
                    <a:pt x="883584" y="807255"/>
                  </a:cubicBezTo>
                  <a:cubicBezTo>
                    <a:pt x="887394" y="825035"/>
                    <a:pt x="883584" y="849165"/>
                    <a:pt x="875964" y="865675"/>
                  </a:cubicBezTo>
                  <a:cubicBezTo>
                    <a:pt x="867074" y="882185"/>
                    <a:pt x="850564" y="898695"/>
                    <a:pt x="834054" y="907585"/>
                  </a:cubicBezTo>
                  <a:cubicBezTo>
                    <a:pt x="817544" y="916475"/>
                    <a:pt x="798494" y="920285"/>
                    <a:pt x="775634" y="916475"/>
                  </a:cubicBezTo>
                  <a:cubicBezTo>
                    <a:pt x="740074" y="908855"/>
                    <a:pt x="690544" y="874565"/>
                    <a:pt x="649904" y="845355"/>
                  </a:cubicBezTo>
                  <a:cubicBezTo>
                    <a:pt x="600374" y="809795"/>
                    <a:pt x="541954" y="753915"/>
                    <a:pt x="505124" y="713275"/>
                  </a:cubicBezTo>
                  <a:cubicBezTo>
                    <a:pt x="478454" y="682795"/>
                    <a:pt x="470834" y="654855"/>
                    <a:pt x="442894" y="626915"/>
                  </a:cubicBezTo>
                  <a:cubicBezTo>
                    <a:pt x="407334" y="590085"/>
                    <a:pt x="343834" y="563415"/>
                    <a:pt x="298114" y="520235"/>
                  </a:cubicBezTo>
                  <a:cubicBezTo>
                    <a:pt x="246044" y="471975"/>
                    <a:pt x="197784" y="403395"/>
                    <a:pt x="153334" y="344975"/>
                  </a:cubicBezTo>
                  <a:cubicBezTo>
                    <a:pt x="110154" y="289095"/>
                    <a:pt x="61894" y="224325"/>
                    <a:pt x="35224" y="178605"/>
                  </a:cubicBezTo>
                  <a:cubicBezTo>
                    <a:pt x="18714" y="149395"/>
                    <a:pt x="4744" y="126535"/>
                    <a:pt x="934" y="102405"/>
                  </a:cubicBezTo>
                  <a:cubicBezTo>
                    <a:pt x="-1606" y="82085"/>
                    <a:pt x="934" y="59225"/>
                    <a:pt x="9824" y="42715"/>
                  </a:cubicBezTo>
                  <a:cubicBezTo>
                    <a:pt x="18714" y="26205"/>
                    <a:pt x="37764" y="10965"/>
                    <a:pt x="55544" y="4615"/>
                  </a:cubicBezTo>
                  <a:cubicBezTo>
                    <a:pt x="73324" y="-1735"/>
                    <a:pt x="98724" y="-1735"/>
                    <a:pt x="116504" y="5885"/>
                  </a:cubicBezTo>
                  <a:cubicBezTo>
                    <a:pt x="133014" y="12235"/>
                    <a:pt x="160954" y="46525"/>
                    <a:pt x="160954" y="46525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448348" y="2546033"/>
            <a:ext cx="1091565" cy="437197"/>
            <a:chOff x="0" y="0"/>
            <a:chExt cx="1455420" cy="582930"/>
          </a:xfrm>
        </p:grpSpPr>
        <p:sp>
          <p:nvSpPr>
            <p:cNvPr id="16" name="Freeform 16"/>
            <p:cNvSpPr/>
            <p:nvPr/>
          </p:nvSpPr>
          <p:spPr>
            <a:xfrm>
              <a:off x="50146" y="44316"/>
              <a:ext cx="1355479" cy="488314"/>
            </a:xfrm>
            <a:custGeom>
              <a:avLst/>
              <a:gdLst/>
              <a:ahLst/>
              <a:cxnLst/>
              <a:rect l="l" t="t" r="r" b="b"/>
              <a:pathLst>
                <a:path w="1355479" h="488314">
                  <a:moveTo>
                    <a:pt x="1283354" y="170314"/>
                  </a:moveTo>
                  <a:cubicBezTo>
                    <a:pt x="747414" y="241434"/>
                    <a:pt x="508654" y="327794"/>
                    <a:pt x="361334" y="381134"/>
                  </a:cubicBezTo>
                  <a:cubicBezTo>
                    <a:pt x="259734" y="419234"/>
                    <a:pt x="153054" y="477654"/>
                    <a:pt x="108604" y="486544"/>
                  </a:cubicBezTo>
                  <a:cubicBezTo>
                    <a:pt x="93364" y="489084"/>
                    <a:pt x="88284" y="489084"/>
                    <a:pt x="78124" y="485274"/>
                  </a:cubicBezTo>
                  <a:cubicBezTo>
                    <a:pt x="61614" y="481464"/>
                    <a:pt x="37484" y="470034"/>
                    <a:pt x="24784" y="454794"/>
                  </a:cubicBezTo>
                  <a:cubicBezTo>
                    <a:pt x="12084" y="440824"/>
                    <a:pt x="1924" y="417964"/>
                    <a:pt x="654" y="398914"/>
                  </a:cubicBezTo>
                  <a:cubicBezTo>
                    <a:pt x="-616" y="379864"/>
                    <a:pt x="4464" y="355734"/>
                    <a:pt x="15894" y="340494"/>
                  </a:cubicBezTo>
                  <a:cubicBezTo>
                    <a:pt x="26054" y="323984"/>
                    <a:pt x="47644" y="308744"/>
                    <a:pt x="62884" y="302394"/>
                  </a:cubicBezTo>
                  <a:cubicBezTo>
                    <a:pt x="73044" y="297314"/>
                    <a:pt x="81934" y="296044"/>
                    <a:pt x="93364" y="296044"/>
                  </a:cubicBezTo>
                  <a:cubicBezTo>
                    <a:pt x="109874" y="297314"/>
                    <a:pt x="137814" y="306204"/>
                    <a:pt x="151784" y="313824"/>
                  </a:cubicBezTo>
                  <a:cubicBezTo>
                    <a:pt x="161944" y="320174"/>
                    <a:pt x="167024" y="326524"/>
                    <a:pt x="173374" y="336684"/>
                  </a:cubicBezTo>
                  <a:cubicBezTo>
                    <a:pt x="182264" y="350654"/>
                    <a:pt x="189884" y="378594"/>
                    <a:pt x="191154" y="395104"/>
                  </a:cubicBezTo>
                  <a:cubicBezTo>
                    <a:pt x="191154" y="406534"/>
                    <a:pt x="189884" y="414154"/>
                    <a:pt x="184804" y="424314"/>
                  </a:cubicBezTo>
                  <a:cubicBezTo>
                    <a:pt x="178454" y="439554"/>
                    <a:pt x="163214" y="462414"/>
                    <a:pt x="146704" y="472574"/>
                  </a:cubicBezTo>
                  <a:cubicBezTo>
                    <a:pt x="130194" y="482734"/>
                    <a:pt x="103524" y="486544"/>
                    <a:pt x="88284" y="486544"/>
                  </a:cubicBezTo>
                  <a:cubicBezTo>
                    <a:pt x="75584" y="486544"/>
                    <a:pt x="67964" y="485274"/>
                    <a:pt x="57804" y="478924"/>
                  </a:cubicBezTo>
                  <a:cubicBezTo>
                    <a:pt x="43834" y="471304"/>
                    <a:pt x="22244" y="454794"/>
                    <a:pt x="12084" y="438284"/>
                  </a:cubicBezTo>
                  <a:cubicBezTo>
                    <a:pt x="3194" y="421774"/>
                    <a:pt x="-1886" y="397644"/>
                    <a:pt x="654" y="378594"/>
                  </a:cubicBezTo>
                  <a:cubicBezTo>
                    <a:pt x="3194" y="359544"/>
                    <a:pt x="17164" y="336684"/>
                    <a:pt x="28594" y="323984"/>
                  </a:cubicBezTo>
                  <a:cubicBezTo>
                    <a:pt x="36214" y="315094"/>
                    <a:pt x="40024" y="312554"/>
                    <a:pt x="53994" y="306204"/>
                  </a:cubicBezTo>
                  <a:cubicBezTo>
                    <a:pt x="87014" y="288424"/>
                    <a:pt x="194964" y="260484"/>
                    <a:pt x="249574" y="237624"/>
                  </a:cubicBezTo>
                  <a:cubicBezTo>
                    <a:pt x="290214" y="219844"/>
                    <a:pt x="304184" y="203334"/>
                    <a:pt x="353714" y="184284"/>
                  </a:cubicBezTo>
                  <a:cubicBezTo>
                    <a:pt x="465474" y="141104"/>
                    <a:pt x="807104" y="36964"/>
                    <a:pt x="915054" y="28074"/>
                  </a:cubicBezTo>
                  <a:cubicBezTo>
                    <a:pt x="958234" y="25534"/>
                    <a:pt x="976014" y="40774"/>
                    <a:pt x="1006494" y="38234"/>
                  </a:cubicBezTo>
                  <a:cubicBezTo>
                    <a:pt x="1038244" y="36964"/>
                    <a:pt x="1062374" y="20454"/>
                    <a:pt x="1097934" y="15374"/>
                  </a:cubicBezTo>
                  <a:cubicBezTo>
                    <a:pt x="1152544" y="6484"/>
                    <a:pt x="1257954" y="-8756"/>
                    <a:pt x="1299864" y="6484"/>
                  </a:cubicBezTo>
                  <a:cubicBezTo>
                    <a:pt x="1322724" y="14104"/>
                    <a:pt x="1336694" y="28074"/>
                    <a:pt x="1345584" y="44584"/>
                  </a:cubicBezTo>
                  <a:cubicBezTo>
                    <a:pt x="1354474" y="61094"/>
                    <a:pt x="1358284" y="86494"/>
                    <a:pt x="1353204" y="104274"/>
                  </a:cubicBezTo>
                  <a:cubicBezTo>
                    <a:pt x="1349394" y="122054"/>
                    <a:pt x="1334154" y="143644"/>
                    <a:pt x="1320184" y="155074"/>
                  </a:cubicBezTo>
                  <a:cubicBezTo>
                    <a:pt x="1310024" y="163964"/>
                    <a:pt x="1283354" y="170314"/>
                    <a:pt x="1283354" y="170314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270230" y="2882265"/>
            <a:ext cx="192405" cy="199072"/>
            <a:chOff x="0" y="0"/>
            <a:chExt cx="256540" cy="265430"/>
          </a:xfrm>
        </p:grpSpPr>
        <p:sp>
          <p:nvSpPr>
            <p:cNvPr id="18" name="Freeform 18"/>
            <p:cNvSpPr/>
            <p:nvPr/>
          </p:nvSpPr>
          <p:spPr>
            <a:xfrm>
              <a:off x="46003" y="50800"/>
              <a:ext cx="158467" cy="164638"/>
            </a:xfrm>
            <a:custGeom>
              <a:avLst/>
              <a:gdLst/>
              <a:ahLst/>
              <a:cxnLst/>
              <a:rect l="l" t="t" r="r" b="b"/>
              <a:pathLst>
                <a:path w="158467" h="164638">
                  <a:moveTo>
                    <a:pt x="158467" y="57150"/>
                  </a:moveTo>
                  <a:cubicBezTo>
                    <a:pt x="136877" y="144780"/>
                    <a:pt x="125447" y="152400"/>
                    <a:pt x="114017" y="157480"/>
                  </a:cubicBezTo>
                  <a:cubicBezTo>
                    <a:pt x="101317" y="162560"/>
                    <a:pt x="88617" y="166370"/>
                    <a:pt x="74647" y="163830"/>
                  </a:cubicBezTo>
                  <a:cubicBezTo>
                    <a:pt x="55597" y="160020"/>
                    <a:pt x="21307" y="143510"/>
                    <a:pt x="8607" y="124460"/>
                  </a:cubicBezTo>
                  <a:cubicBezTo>
                    <a:pt x="-2823" y="105410"/>
                    <a:pt x="-1553" y="67310"/>
                    <a:pt x="4797" y="48260"/>
                  </a:cubicBezTo>
                  <a:cubicBezTo>
                    <a:pt x="8607" y="34290"/>
                    <a:pt x="18767" y="24130"/>
                    <a:pt x="28927" y="16510"/>
                  </a:cubicBezTo>
                  <a:cubicBezTo>
                    <a:pt x="39087" y="8890"/>
                    <a:pt x="50517" y="1270"/>
                    <a:pt x="64487" y="0"/>
                  </a:cubicBezTo>
                  <a:cubicBezTo>
                    <a:pt x="84807" y="0"/>
                    <a:pt x="138147" y="22860"/>
                    <a:pt x="138147" y="2286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642657" y="8930640"/>
            <a:ext cx="1429702" cy="738188"/>
            <a:chOff x="0" y="0"/>
            <a:chExt cx="1906270" cy="984250"/>
          </a:xfrm>
        </p:grpSpPr>
        <p:sp>
          <p:nvSpPr>
            <p:cNvPr id="20" name="Freeform 20"/>
            <p:cNvSpPr/>
            <p:nvPr/>
          </p:nvSpPr>
          <p:spPr>
            <a:xfrm>
              <a:off x="50153" y="48500"/>
              <a:ext cx="1805312" cy="887998"/>
            </a:xfrm>
            <a:custGeom>
              <a:avLst/>
              <a:gdLst/>
              <a:ahLst/>
              <a:cxnLst/>
              <a:rect l="l" t="t" r="r" b="b"/>
              <a:pathLst>
                <a:path w="1805312" h="887998">
                  <a:moveTo>
                    <a:pt x="1773567" y="152160"/>
                  </a:moveTo>
                  <a:cubicBezTo>
                    <a:pt x="1487817" y="317260"/>
                    <a:pt x="1409077" y="345200"/>
                    <a:pt x="1315097" y="379490"/>
                  </a:cubicBezTo>
                  <a:cubicBezTo>
                    <a:pt x="1195717" y="423940"/>
                    <a:pt x="1009027" y="468390"/>
                    <a:pt x="904887" y="510300"/>
                  </a:cubicBezTo>
                  <a:cubicBezTo>
                    <a:pt x="840117" y="538240"/>
                    <a:pt x="794397" y="572530"/>
                    <a:pt x="748677" y="589040"/>
                  </a:cubicBezTo>
                  <a:cubicBezTo>
                    <a:pt x="716927" y="600470"/>
                    <a:pt x="702957" y="594120"/>
                    <a:pt x="663587" y="608090"/>
                  </a:cubicBezTo>
                  <a:cubicBezTo>
                    <a:pt x="559447" y="644920"/>
                    <a:pt x="211467" y="865900"/>
                    <a:pt x="118757" y="884950"/>
                  </a:cubicBezTo>
                  <a:cubicBezTo>
                    <a:pt x="90817" y="890030"/>
                    <a:pt x="76847" y="888760"/>
                    <a:pt x="59067" y="881140"/>
                  </a:cubicBezTo>
                  <a:cubicBezTo>
                    <a:pt x="41287" y="873520"/>
                    <a:pt x="23507" y="858280"/>
                    <a:pt x="13347" y="841770"/>
                  </a:cubicBezTo>
                  <a:cubicBezTo>
                    <a:pt x="3187" y="825260"/>
                    <a:pt x="-1893" y="802400"/>
                    <a:pt x="647" y="783350"/>
                  </a:cubicBezTo>
                  <a:cubicBezTo>
                    <a:pt x="3187" y="764300"/>
                    <a:pt x="15887" y="741440"/>
                    <a:pt x="26047" y="728740"/>
                  </a:cubicBezTo>
                  <a:cubicBezTo>
                    <a:pt x="33667" y="719850"/>
                    <a:pt x="40017" y="714770"/>
                    <a:pt x="50177" y="710960"/>
                  </a:cubicBezTo>
                  <a:cubicBezTo>
                    <a:pt x="65417" y="704610"/>
                    <a:pt x="93357" y="699530"/>
                    <a:pt x="109867" y="700800"/>
                  </a:cubicBezTo>
                  <a:cubicBezTo>
                    <a:pt x="121297" y="702070"/>
                    <a:pt x="128917" y="704610"/>
                    <a:pt x="139077" y="710960"/>
                  </a:cubicBezTo>
                  <a:cubicBezTo>
                    <a:pt x="151777" y="719850"/>
                    <a:pt x="172097" y="740170"/>
                    <a:pt x="179717" y="755410"/>
                  </a:cubicBezTo>
                  <a:cubicBezTo>
                    <a:pt x="184797" y="764300"/>
                    <a:pt x="187337" y="773190"/>
                    <a:pt x="187337" y="784620"/>
                  </a:cubicBezTo>
                  <a:cubicBezTo>
                    <a:pt x="187337" y="799860"/>
                    <a:pt x="184797" y="826530"/>
                    <a:pt x="174637" y="843040"/>
                  </a:cubicBezTo>
                  <a:cubicBezTo>
                    <a:pt x="164477" y="858280"/>
                    <a:pt x="146697" y="874790"/>
                    <a:pt x="128917" y="881140"/>
                  </a:cubicBezTo>
                  <a:cubicBezTo>
                    <a:pt x="111137" y="888760"/>
                    <a:pt x="87007" y="890030"/>
                    <a:pt x="69227" y="884950"/>
                  </a:cubicBezTo>
                  <a:cubicBezTo>
                    <a:pt x="50177" y="878600"/>
                    <a:pt x="31127" y="865900"/>
                    <a:pt x="19697" y="850660"/>
                  </a:cubicBezTo>
                  <a:cubicBezTo>
                    <a:pt x="8267" y="835420"/>
                    <a:pt x="647" y="812560"/>
                    <a:pt x="647" y="793510"/>
                  </a:cubicBezTo>
                  <a:cubicBezTo>
                    <a:pt x="647" y="774460"/>
                    <a:pt x="1917" y="757950"/>
                    <a:pt x="19697" y="736360"/>
                  </a:cubicBezTo>
                  <a:cubicBezTo>
                    <a:pt x="75577" y="670320"/>
                    <a:pt x="377837" y="539510"/>
                    <a:pt x="525157" y="469660"/>
                  </a:cubicBezTo>
                  <a:cubicBezTo>
                    <a:pt x="636917" y="418860"/>
                    <a:pt x="715657" y="388380"/>
                    <a:pt x="822337" y="349010"/>
                  </a:cubicBezTo>
                  <a:cubicBezTo>
                    <a:pt x="945527" y="304560"/>
                    <a:pt x="1099197" y="267730"/>
                    <a:pt x="1224927" y="223280"/>
                  </a:cubicBezTo>
                  <a:cubicBezTo>
                    <a:pt x="1337957" y="182640"/>
                    <a:pt x="1456067" y="138190"/>
                    <a:pt x="1543697" y="95010"/>
                  </a:cubicBezTo>
                  <a:cubicBezTo>
                    <a:pt x="1607197" y="64530"/>
                    <a:pt x="1666887" y="11190"/>
                    <a:pt x="1703717" y="2300"/>
                  </a:cubicBezTo>
                  <a:cubicBezTo>
                    <a:pt x="1721497" y="-1510"/>
                    <a:pt x="1731657" y="-240"/>
                    <a:pt x="1744357" y="3570"/>
                  </a:cubicBezTo>
                  <a:cubicBezTo>
                    <a:pt x="1760867" y="9920"/>
                    <a:pt x="1782457" y="25160"/>
                    <a:pt x="1792617" y="40400"/>
                  </a:cubicBezTo>
                  <a:cubicBezTo>
                    <a:pt x="1802777" y="56910"/>
                    <a:pt x="1807857" y="81040"/>
                    <a:pt x="1804047" y="100090"/>
                  </a:cubicBezTo>
                  <a:cubicBezTo>
                    <a:pt x="1800237" y="119140"/>
                    <a:pt x="1773567" y="152160"/>
                    <a:pt x="1773567" y="15216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903970" y="8929688"/>
            <a:ext cx="754380" cy="1043940"/>
            <a:chOff x="0" y="0"/>
            <a:chExt cx="1005840" cy="1391920"/>
          </a:xfrm>
        </p:grpSpPr>
        <p:sp>
          <p:nvSpPr>
            <p:cNvPr id="22" name="Freeform 22"/>
            <p:cNvSpPr/>
            <p:nvPr/>
          </p:nvSpPr>
          <p:spPr>
            <a:xfrm>
              <a:off x="50665" y="50153"/>
              <a:ext cx="904180" cy="1291602"/>
            </a:xfrm>
            <a:custGeom>
              <a:avLst/>
              <a:gdLst/>
              <a:ahLst/>
              <a:cxnLst/>
              <a:rect l="l" t="t" r="r" b="b"/>
              <a:pathLst>
                <a:path w="904180" h="1291602">
                  <a:moveTo>
                    <a:pt x="166505" y="61607"/>
                  </a:moveTo>
                  <a:cubicBezTo>
                    <a:pt x="331605" y="575957"/>
                    <a:pt x="339225" y="583577"/>
                    <a:pt x="363355" y="615327"/>
                  </a:cubicBezTo>
                  <a:cubicBezTo>
                    <a:pt x="405265" y="675017"/>
                    <a:pt x="487815" y="768997"/>
                    <a:pt x="566555" y="850277"/>
                  </a:cubicBezTo>
                  <a:cubicBezTo>
                    <a:pt x="659265" y="946797"/>
                    <a:pt x="854845" y="1082687"/>
                    <a:pt x="891675" y="1148727"/>
                  </a:cubicBezTo>
                  <a:cubicBezTo>
                    <a:pt x="904375" y="1172857"/>
                    <a:pt x="905645" y="1189367"/>
                    <a:pt x="903105" y="1208417"/>
                  </a:cubicBezTo>
                  <a:cubicBezTo>
                    <a:pt x="900565" y="1227467"/>
                    <a:pt x="890405" y="1249057"/>
                    <a:pt x="876435" y="1263027"/>
                  </a:cubicBezTo>
                  <a:cubicBezTo>
                    <a:pt x="863735" y="1275727"/>
                    <a:pt x="838335" y="1285887"/>
                    <a:pt x="823095" y="1289697"/>
                  </a:cubicBezTo>
                  <a:cubicBezTo>
                    <a:pt x="811665" y="1292237"/>
                    <a:pt x="802775" y="1292237"/>
                    <a:pt x="792615" y="1289697"/>
                  </a:cubicBezTo>
                  <a:cubicBezTo>
                    <a:pt x="776105" y="1284617"/>
                    <a:pt x="751975" y="1274457"/>
                    <a:pt x="739275" y="1259217"/>
                  </a:cubicBezTo>
                  <a:cubicBezTo>
                    <a:pt x="726575" y="1245247"/>
                    <a:pt x="717685" y="1219847"/>
                    <a:pt x="715145" y="1204607"/>
                  </a:cubicBezTo>
                  <a:cubicBezTo>
                    <a:pt x="712605" y="1193177"/>
                    <a:pt x="713875" y="1184287"/>
                    <a:pt x="717685" y="1174127"/>
                  </a:cubicBezTo>
                  <a:cubicBezTo>
                    <a:pt x="722765" y="1158887"/>
                    <a:pt x="738005" y="1133487"/>
                    <a:pt x="749435" y="1123327"/>
                  </a:cubicBezTo>
                  <a:cubicBezTo>
                    <a:pt x="758325" y="1114437"/>
                    <a:pt x="764675" y="1110627"/>
                    <a:pt x="776105" y="1106817"/>
                  </a:cubicBezTo>
                  <a:cubicBezTo>
                    <a:pt x="791345" y="1103007"/>
                    <a:pt x="818015" y="1100467"/>
                    <a:pt x="835795" y="1105547"/>
                  </a:cubicBezTo>
                  <a:cubicBezTo>
                    <a:pt x="854845" y="1110627"/>
                    <a:pt x="875165" y="1128407"/>
                    <a:pt x="885325" y="1139837"/>
                  </a:cubicBezTo>
                  <a:cubicBezTo>
                    <a:pt x="892945" y="1148727"/>
                    <a:pt x="896755" y="1156347"/>
                    <a:pt x="899295" y="1167777"/>
                  </a:cubicBezTo>
                  <a:cubicBezTo>
                    <a:pt x="903105" y="1183017"/>
                    <a:pt x="904375" y="1209687"/>
                    <a:pt x="898025" y="1227467"/>
                  </a:cubicBezTo>
                  <a:cubicBezTo>
                    <a:pt x="891675" y="1246517"/>
                    <a:pt x="876435" y="1265567"/>
                    <a:pt x="861195" y="1275727"/>
                  </a:cubicBezTo>
                  <a:cubicBezTo>
                    <a:pt x="844685" y="1285887"/>
                    <a:pt x="821825" y="1292237"/>
                    <a:pt x="802775" y="1290967"/>
                  </a:cubicBezTo>
                  <a:cubicBezTo>
                    <a:pt x="783725" y="1288427"/>
                    <a:pt x="771025" y="1282077"/>
                    <a:pt x="746895" y="1266837"/>
                  </a:cubicBezTo>
                  <a:cubicBezTo>
                    <a:pt x="687205" y="1228737"/>
                    <a:pt x="556395" y="1106817"/>
                    <a:pt x="468765" y="1017917"/>
                  </a:cubicBezTo>
                  <a:cubicBezTo>
                    <a:pt x="379865" y="929017"/>
                    <a:pt x="279535" y="819797"/>
                    <a:pt x="218575" y="733437"/>
                  </a:cubicBezTo>
                  <a:cubicBezTo>
                    <a:pt x="174125" y="669937"/>
                    <a:pt x="151265" y="631837"/>
                    <a:pt x="120785" y="556907"/>
                  </a:cubicBezTo>
                  <a:cubicBezTo>
                    <a:pt x="73795" y="440067"/>
                    <a:pt x="-3675" y="169557"/>
                    <a:pt x="135" y="88277"/>
                  </a:cubicBezTo>
                  <a:cubicBezTo>
                    <a:pt x="135" y="60337"/>
                    <a:pt x="6485" y="45097"/>
                    <a:pt x="19185" y="31127"/>
                  </a:cubicBezTo>
                  <a:cubicBezTo>
                    <a:pt x="30615" y="15887"/>
                    <a:pt x="52205" y="4457"/>
                    <a:pt x="71255" y="647"/>
                  </a:cubicBezTo>
                  <a:cubicBezTo>
                    <a:pt x="90305" y="-1893"/>
                    <a:pt x="114435" y="3187"/>
                    <a:pt x="130945" y="13347"/>
                  </a:cubicBezTo>
                  <a:cubicBezTo>
                    <a:pt x="146185" y="23507"/>
                    <a:pt x="166505" y="61607"/>
                    <a:pt x="166505" y="61607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654540" y="9873615"/>
            <a:ext cx="199072" cy="194310"/>
            <a:chOff x="0" y="0"/>
            <a:chExt cx="265430" cy="259080"/>
          </a:xfrm>
        </p:grpSpPr>
        <p:sp>
          <p:nvSpPr>
            <p:cNvPr id="24" name="Freeform 24"/>
            <p:cNvSpPr/>
            <p:nvPr/>
          </p:nvSpPr>
          <p:spPr>
            <a:xfrm>
              <a:off x="50637" y="50752"/>
              <a:ext cx="161453" cy="161862"/>
            </a:xfrm>
            <a:custGeom>
              <a:avLst/>
              <a:gdLst/>
              <a:ahLst/>
              <a:cxnLst/>
              <a:rect l="l" t="t" r="r" b="b"/>
              <a:pathLst>
                <a:path w="161453" h="161862">
                  <a:moveTo>
                    <a:pt x="161453" y="57198"/>
                  </a:moveTo>
                  <a:cubicBezTo>
                    <a:pt x="157643" y="115618"/>
                    <a:pt x="137323" y="147368"/>
                    <a:pt x="115733" y="157528"/>
                  </a:cubicBezTo>
                  <a:cubicBezTo>
                    <a:pt x="95413" y="166418"/>
                    <a:pt x="57313" y="160068"/>
                    <a:pt x="39533" y="152448"/>
                  </a:cubicBezTo>
                  <a:cubicBezTo>
                    <a:pt x="26833" y="146098"/>
                    <a:pt x="17943" y="135938"/>
                    <a:pt x="11593" y="124508"/>
                  </a:cubicBezTo>
                  <a:cubicBezTo>
                    <a:pt x="5243" y="113078"/>
                    <a:pt x="-1107" y="101648"/>
                    <a:pt x="163" y="86408"/>
                  </a:cubicBezTo>
                  <a:cubicBezTo>
                    <a:pt x="1433" y="67358"/>
                    <a:pt x="16673" y="30528"/>
                    <a:pt x="31913" y="16558"/>
                  </a:cubicBezTo>
                  <a:cubicBezTo>
                    <a:pt x="40803" y="6398"/>
                    <a:pt x="53503" y="1318"/>
                    <a:pt x="67473" y="48"/>
                  </a:cubicBezTo>
                  <a:cubicBezTo>
                    <a:pt x="87793" y="-1222"/>
                    <a:pt x="141133" y="22908"/>
                    <a:pt x="141133" y="22908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782753" y="6224588"/>
            <a:ext cx="1232535" cy="718185"/>
            <a:chOff x="0" y="0"/>
            <a:chExt cx="1643380" cy="957580"/>
          </a:xfrm>
        </p:grpSpPr>
        <p:sp>
          <p:nvSpPr>
            <p:cNvPr id="26" name="Freeform 26"/>
            <p:cNvSpPr/>
            <p:nvPr/>
          </p:nvSpPr>
          <p:spPr>
            <a:xfrm>
              <a:off x="46185" y="50800"/>
              <a:ext cx="1547198" cy="855980"/>
            </a:xfrm>
            <a:custGeom>
              <a:avLst/>
              <a:gdLst/>
              <a:ahLst/>
              <a:cxnLst/>
              <a:rect l="l" t="t" r="r" b="b"/>
              <a:pathLst>
                <a:path w="1547198" h="855980">
                  <a:moveTo>
                    <a:pt x="121455" y="8890"/>
                  </a:moveTo>
                  <a:cubicBezTo>
                    <a:pt x="276395" y="78740"/>
                    <a:pt x="503725" y="128270"/>
                    <a:pt x="610405" y="167640"/>
                  </a:cubicBezTo>
                  <a:cubicBezTo>
                    <a:pt x="678985" y="194310"/>
                    <a:pt x="708195" y="218440"/>
                    <a:pt x="775505" y="247650"/>
                  </a:cubicBezTo>
                  <a:cubicBezTo>
                    <a:pt x="875835" y="290830"/>
                    <a:pt x="1081575" y="353060"/>
                    <a:pt x="1160315" y="392430"/>
                  </a:cubicBezTo>
                  <a:cubicBezTo>
                    <a:pt x="1198415" y="411480"/>
                    <a:pt x="1206035" y="417830"/>
                    <a:pt x="1239055" y="444500"/>
                  </a:cubicBezTo>
                  <a:cubicBezTo>
                    <a:pt x="1308905" y="497840"/>
                    <a:pt x="1504485" y="656590"/>
                    <a:pt x="1537505" y="718820"/>
                  </a:cubicBezTo>
                  <a:cubicBezTo>
                    <a:pt x="1550205" y="744220"/>
                    <a:pt x="1547665" y="763270"/>
                    <a:pt x="1545125" y="779780"/>
                  </a:cubicBezTo>
                  <a:cubicBezTo>
                    <a:pt x="1543855" y="791210"/>
                    <a:pt x="1541315" y="798830"/>
                    <a:pt x="1534965" y="807720"/>
                  </a:cubicBezTo>
                  <a:cubicBezTo>
                    <a:pt x="1524805" y="821690"/>
                    <a:pt x="1504485" y="840740"/>
                    <a:pt x="1489245" y="848360"/>
                  </a:cubicBezTo>
                  <a:cubicBezTo>
                    <a:pt x="1479085" y="853440"/>
                    <a:pt x="1470195" y="854710"/>
                    <a:pt x="1460035" y="855980"/>
                  </a:cubicBezTo>
                  <a:cubicBezTo>
                    <a:pt x="1449875" y="855980"/>
                    <a:pt x="1439715" y="855980"/>
                    <a:pt x="1429555" y="853440"/>
                  </a:cubicBezTo>
                  <a:cubicBezTo>
                    <a:pt x="1414315" y="847090"/>
                    <a:pt x="1390185" y="835660"/>
                    <a:pt x="1378755" y="820420"/>
                  </a:cubicBezTo>
                  <a:cubicBezTo>
                    <a:pt x="1366055" y="805180"/>
                    <a:pt x="1358435" y="782320"/>
                    <a:pt x="1358435" y="763270"/>
                  </a:cubicBezTo>
                  <a:cubicBezTo>
                    <a:pt x="1357165" y="744220"/>
                    <a:pt x="1367325" y="720090"/>
                    <a:pt x="1376215" y="706120"/>
                  </a:cubicBezTo>
                  <a:cubicBezTo>
                    <a:pt x="1381295" y="695960"/>
                    <a:pt x="1387645" y="689610"/>
                    <a:pt x="1397805" y="684530"/>
                  </a:cubicBezTo>
                  <a:cubicBezTo>
                    <a:pt x="1411775" y="675640"/>
                    <a:pt x="1435905" y="665480"/>
                    <a:pt x="1454955" y="666750"/>
                  </a:cubicBezTo>
                  <a:cubicBezTo>
                    <a:pt x="1474005" y="666750"/>
                    <a:pt x="1496865" y="675640"/>
                    <a:pt x="1512105" y="687070"/>
                  </a:cubicBezTo>
                  <a:cubicBezTo>
                    <a:pt x="1527345" y="699770"/>
                    <a:pt x="1540045" y="720090"/>
                    <a:pt x="1543855" y="739140"/>
                  </a:cubicBezTo>
                  <a:cubicBezTo>
                    <a:pt x="1548935" y="756920"/>
                    <a:pt x="1543855" y="783590"/>
                    <a:pt x="1538775" y="798830"/>
                  </a:cubicBezTo>
                  <a:cubicBezTo>
                    <a:pt x="1534965" y="810260"/>
                    <a:pt x="1531155" y="816610"/>
                    <a:pt x="1522265" y="824230"/>
                  </a:cubicBezTo>
                  <a:cubicBezTo>
                    <a:pt x="1510835" y="835660"/>
                    <a:pt x="1489245" y="850900"/>
                    <a:pt x="1470195" y="854710"/>
                  </a:cubicBezTo>
                  <a:cubicBezTo>
                    <a:pt x="1451145" y="857250"/>
                    <a:pt x="1432095" y="855980"/>
                    <a:pt x="1410505" y="845820"/>
                  </a:cubicBezTo>
                  <a:cubicBezTo>
                    <a:pt x="1374945" y="830580"/>
                    <a:pt x="1320335" y="778510"/>
                    <a:pt x="1286045" y="744220"/>
                  </a:cubicBezTo>
                  <a:cubicBezTo>
                    <a:pt x="1256835" y="715010"/>
                    <a:pt x="1244135" y="684530"/>
                    <a:pt x="1213655" y="656590"/>
                  </a:cubicBezTo>
                  <a:cubicBezTo>
                    <a:pt x="1175555" y="622300"/>
                    <a:pt x="1139995" y="594360"/>
                    <a:pt x="1073955" y="556260"/>
                  </a:cubicBezTo>
                  <a:cubicBezTo>
                    <a:pt x="940605" y="481330"/>
                    <a:pt x="577385" y="328930"/>
                    <a:pt x="432605" y="281940"/>
                  </a:cubicBezTo>
                  <a:cubicBezTo>
                    <a:pt x="361485" y="260350"/>
                    <a:pt x="325925" y="265430"/>
                    <a:pt x="268775" y="247650"/>
                  </a:cubicBezTo>
                  <a:cubicBezTo>
                    <a:pt x="198925" y="227330"/>
                    <a:pt x="88435" y="189230"/>
                    <a:pt x="46525" y="160020"/>
                  </a:cubicBezTo>
                  <a:cubicBezTo>
                    <a:pt x="24935" y="146050"/>
                    <a:pt x="12235" y="133350"/>
                    <a:pt x="5885" y="116840"/>
                  </a:cubicBezTo>
                  <a:cubicBezTo>
                    <a:pt x="-1735" y="99060"/>
                    <a:pt x="-1735" y="73660"/>
                    <a:pt x="4615" y="57150"/>
                  </a:cubicBezTo>
                  <a:cubicBezTo>
                    <a:pt x="10965" y="39370"/>
                    <a:pt x="28745" y="20320"/>
                    <a:pt x="42715" y="11430"/>
                  </a:cubicBezTo>
                  <a:cubicBezTo>
                    <a:pt x="55415" y="3810"/>
                    <a:pt x="69385" y="1270"/>
                    <a:pt x="82085" y="0"/>
                  </a:cubicBezTo>
                  <a:cubicBezTo>
                    <a:pt x="94785" y="0"/>
                    <a:pt x="121455" y="8890"/>
                    <a:pt x="121455" y="889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384482" y="9655493"/>
            <a:ext cx="1075373" cy="485775"/>
            <a:chOff x="0" y="0"/>
            <a:chExt cx="1433830" cy="647700"/>
          </a:xfrm>
        </p:grpSpPr>
        <p:sp>
          <p:nvSpPr>
            <p:cNvPr id="28" name="Freeform 28"/>
            <p:cNvSpPr/>
            <p:nvPr/>
          </p:nvSpPr>
          <p:spPr>
            <a:xfrm>
              <a:off x="50476" y="49118"/>
              <a:ext cx="1335898" cy="546992"/>
            </a:xfrm>
            <a:custGeom>
              <a:avLst/>
              <a:gdLst/>
              <a:ahLst/>
              <a:cxnLst/>
              <a:rect l="l" t="t" r="r" b="b"/>
              <a:pathLst>
                <a:path w="1335898" h="546992">
                  <a:moveTo>
                    <a:pt x="1289374" y="160432"/>
                  </a:moveTo>
                  <a:cubicBezTo>
                    <a:pt x="980764" y="291242"/>
                    <a:pt x="932504" y="287432"/>
                    <a:pt x="855034" y="309022"/>
                  </a:cubicBezTo>
                  <a:cubicBezTo>
                    <a:pt x="730574" y="343312"/>
                    <a:pt x="518484" y="438562"/>
                    <a:pt x="380054" y="480472"/>
                  </a:cubicBezTo>
                  <a:cubicBezTo>
                    <a:pt x="277184" y="512222"/>
                    <a:pt x="160344" y="546512"/>
                    <a:pt x="101924" y="546512"/>
                  </a:cubicBezTo>
                  <a:cubicBezTo>
                    <a:pt x="76524" y="547782"/>
                    <a:pt x="60014" y="543972"/>
                    <a:pt x="44774" y="533812"/>
                  </a:cubicBezTo>
                  <a:cubicBezTo>
                    <a:pt x="28264" y="524922"/>
                    <a:pt x="13024" y="503332"/>
                    <a:pt x="6674" y="489362"/>
                  </a:cubicBezTo>
                  <a:cubicBezTo>
                    <a:pt x="1594" y="479202"/>
                    <a:pt x="-946" y="471582"/>
                    <a:pt x="324" y="460152"/>
                  </a:cubicBezTo>
                  <a:cubicBezTo>
                    <a:pt x="324" y="443642"/>
                    <a:pt x="5404" y="418242"/>
                    <a:pt x="15564" y="403002"/>
                  </a:cubicBezTo>
                  <a:cubicBezTo>
                    <a:pt x="25724" y="386492"/>
                    <a:pt x="44774" y="372522"/>
                    <a:pt x="62554" y="366172"/>
                  </a:cubicBezTo>
                  <a:cubicBezTo>
                    <a:pt x="80334" y="361092"/>
                    <a:pt x="107004" y="362362"/>
                    <a:pt x="122244" y="366172"/>
                  </a:cubicBezTo>
                  <a:cubicBezTo>
                    <a:pt x="133674" y="369982"/>
                    <a:pt x="140024" y="373792"/>
                    <a:pt x="148914" y="381412"/>
                  </a:cubicBezTo>
                  <a:cubicBezTo>
                    <a:pt x="160344" y="391572"/>
                    <a:pt x="176854" y="411892"/>
                    <a:pt x="181934" y="429672"/>
                  </a:cubicBezTo>
                  <a:cubicBezTo>
                    <a:pt x="187014" y="448722"/>
                    <a:pt x="183204" y="474122"/>
                    <a:pt x="179394" y="489362"/>
                  </a:cubicBezTo>
                  <a:cubicBezTo>
                    <a:pt x="175584" y="499522"/>
                    <a:pt x="171774" y="507142"/>
                    <a:pt x="162884" y="514762"/>
                  </a:cubicBezTo>
                  <a:cubicBezTo>
                    <a:pt x="151454" y="526192"/>
                    <a:pt x="131134" y="541432"/>
                    <a:pt x="112084" y="545242"/>
                  </a:cubicBezTo>
                  <a:cubicBezTo>
                    <a:pt x="94304" y="549052"/>
                    <a:pt x="70174" y="546512"/>
                    <a:pt x="53664" y="538892"/>
                  </a:cubicBezTo>
                  <a:cubicBezTo>
                    <a:pt x="35884" y="531272"/>
                    <a:pt x="19374" y="510952"/>
                    <a:pt x="10484" y="498252"/>
                  </a:cubicBezTo>
                  <a:cubicBezTo>
                    <a:pt x="4134" y="488092"/>
                    <a:pt x="1594" y="480472"/>
                    <a:pt x="324" y="469042"/>
                  </a:cubicBezTo>
                  <a:cubicBezTo>
                    <a:pt x="-946" y="453802"/>
                    <a:pt x="1594" y="427132"/>
                    <a:pt x="10484" y="410622"/>
                  </a:cubicBezTo>
                  <a:cubicBezTo>
                    <a:pt x="19374" y="394112"/>
                    <a:pt x="32074" y="381412"/>
                    <a:pt x="53664" y="369982"/>
                  </a:cubicBezTo>
                  <a:cubicBezTo>
                    <a:pt x="95574" y="348392"/>
                    <a:pt x="174314" y="350932"/>
                    <a:pt x="258134" y="328072"/>
                  </a:cubicBezTo>
                  <a:cubicBezTo>
                    <a:pt x="399104" y="289972"/>
                    <a:pt x="670884" y="174402"/>
                    <a:pt x="816934" y="135032"/>
                  </a:cubicBezTo>
                  <a:cubicBezTo>
                    <a:pt x="908374" y="110902"/>
                    <a:pt x="974414" y="115982"/>
                    <a:pt x="1045534" y="91852"/>
                  </a:cubicBezTo>
                  <a:cubicBezTo>
                    <a:pt x="1112844" y="70262"/>
                    <a:pt x="1186504" y="9302"/>
                    <a:pt x="1233494" y="1682"/>
                  </a:cubicBezTo>
                  <a:cubicBezTo>
                    <a:pt x="1257624" y="-2128"/>
                    <a:pt x="1276674" y="412"/>
                    <a:pt x="1293184" y="10572"/>
                  </a:cubicBezTo>
                  <a:cubicBezTo>
                    <a:pt x="1309694" y="19462"/>
                    <a:pt x="1324934" y="38512"/>
                    <a:pt x="1331284" y="56292"/>
                  </a:cubicBezTo>
                  <a:cubicBezTo>
                    <a:pt x="1337634" y="74072"/>
                    <a:pt x="1337634" y="98202"/>
                    <a:pt x="1330014" y="115982"/>
                  </a:cubicBezTo>
                  <a:cubicBezTo>
                    <a:pt x="1323664" y="133762"/>
                    <a:pt x="1289374" y="160432"/>
                    <a:pt x="1289374" y="160432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9352568" y="7082840"/>
            <a:ext cx="5004474" cy="132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41"/>
              </a:lnSpc>
            </a:pPr>
            <a:r>
              <a:rPr lang="en-US" sz="2529" b="1">
                <a:solidFill>
                  <a:srgbClr val="3B36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4.⁠ ⁠Modular System Ready for Expansion</a:t>
            </a:r>
          </a:p>
          <a:p>
            <a:pPr algn="ctr">
              <a:lnSpc>
                <a:spcPts val="3541"/>
              </a:lnSpc>
            </a:pPr>
            <a:endParaRPr lang="en-US" sz="2529" b="1">
              <a:solidFill>
                <a:srgbClr val="3B365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2875598" y="3451322"/>
            <a:ext cx="6171724" cy="878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41"/>
              </a:lnSpc>
            </a:pPr>
            <a:r>
              <a:rPr lang="en-US" sz="2529" b="1">
                <a:solidFill>
                  <a:srgbClr val="3B36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 Evidence-Grounded by Design</a:t>
            </a:r>
          </a:p>
          <a:p>
            <a:pPr algn="ctr">
              <a:lnSpc>
                <a:spcPts val="3541"/>
              </a:lnSpc>
            </a:pPr>
            <a:endParaRPr lang="en-US" sz="2529" b="1">
              <a:solidFill>
                <a:srgbClr val="3B365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0469880" y="3547473"/>
            <a:ext cx="4602480" cy="1333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42"/>
              </a:lnSpc>
            </a:pPr>
            <a:r>
              <a:rPr lang="en-US" sz="2530" b="1">
                <a:solidFill>
                  <a:srgbClr val="3B36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2.⁠ ⁠Multi-Agent Verification Ensures Safety</a:t>
            </a:r>
          </a:p>
          <a:p>
            <a:pPr algn="ctr">
              <a:lnSpc>
                <a:spcPts val="3542"/>
              </a:lnSpc>
            </a:pPr>
            <a:endParaRPr lang="en-US" sz="2530" b="1">
              <a:solidFill>
                <a:srgbClr val="3B365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3127138" y="4209703"/>
            <a:ext cx="5618797" cy="1312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9"/>
              </a:lnSpc>
              <a:spcBef>
                <a:spcPct val="0"/>
              </a:spcBef>
            </a:pPr>
            <a:r>
              <a:rPr lang="en-US" sz="2273">
                <a:solidFill>
                  <a:srgbClr val="3B365F"/>
                </a:solidFill>
                <a:latin typeface="Montserrat"/>
                <a:ea typeface="Montserrat"/>
                <a:cs typeface="Montserrat"/>
                <a:sym typeface="Montserrat"/>
              </a:rPr>
              <a:t>Answers always cite retrieved medical text, avoiding unsupported model guesses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533284" y="4644918"/>
            <a:ext cx="4539076" cy="1201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0"/>
              </a:lnSpc>
              <a:spcBef>
                <a:spcPct val="0"/>
              </a:spcBef>
            </a:pPr>
            <a:r>
              <a:rPr lang="en-US" sz="2082">
                <a:solidFill>
                  <a:srgbClr val="3B365F"/>
                </a:solidFill>
                <a:latin typeface="Montserrat"/>
                <a:ea typeface="Montserrat"/>
                <a:cs typeface="Montserrat"/>
                <a:sym typeface="Montserrat"/>
              </a:rPr>
              <a:t>A second agent checks fidelity, consistency, and medical correctness before output.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949460" y="7038022"/>
            <a:ext cx="5802381" cy="957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2"/>
              </a:lnSpc>
              <a:spcBef>
                <a:spcPct val="0"/>
              </a:spcBef>
            </a:pPr>
            <a:r>
              <a:rPr lang="en-US" sz="2529" b="1">
                <a:solidFill>
                  <a:srgbClr val="3B36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3.⁠ ⁠Scales to Large Medical PDFs Effortlessly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596515" y="8090647"/>
            <a:ext cx="4995827" cy="132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3"/>
              </a:lnSpc>
              <a:spcBef>
                <a:spcPct val="0"/>
              </a:spcBef>
            </a:pPr>
            <a:r>
              <a:rPr lang="en-US" sz="2270">
                <a:solidFill>
                  <a:srgbClr val="3B365F"/>
                </a:solidFill>
                <a:latin typeface="Montserrat"/>
                <a:ea typeface="Montserrat"/>
                <a:cs typeface="Montserrat"/>
                <a:sym typeface="Montserrat"/>
              </a:rPr>
              <a:t>Semantic retrieval + FAISS enables fast navigation across long, dense documents.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443235" y="8090647"/>
            <a:ext cx="5072052" cy="1295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1"/>
              </a:lnSpc>
              <a:spcBef>
                <a:spcPct val="0"/>
              </a:spcBef>
            </a:pPr>
            <a:r>
              <a:rPr lang="en-US" sz="2229">
                <a:solidFill>
                  <a:srgbClr val="3B365F"/>
                </a:solidFill>
                <a:latin typeface="Montserrat"/>
                <a:ea typeface="Montserrat"/>
                <a:cs typeface="Montserrat"/>
                <a:sym typeface="Montserrat"/>
              </a:rPr>
              <a:t>New agents, better models, and advanced retrieval methods can be added easily.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437041" y="619967"/>
            <a:ext cx="9865404" cy="998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36"/>
              </a:lnSpc>
              <a:spcBef>
                <a:spcPct val="0"/>
              </a:spcBef>
            </a:pPr>
            <a:r>
              <a:rPr lang="en-US" sz="5309" b="1">
                <a:solidFill>
                  <a:srgbClr val="3B36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Advantages of MedRAG</a:t>
            </a:r>
          </a:p>
        </p:txBody>
      </p:sp>
      <p:sp>
        <p:nvSpPr>
          <p:cNvPr id="38" name="Freeform 38"/>
          <p:cNvSpPr/>
          <p:nvPr/>
        </p:nvSpPr>
        <p:spPr>
          <a:xfrm>
            <a:off x="0" y="0"/>
            <a:ext cx="3643867" cy="1138227"/>
          </a:xfrm>
          <a:custGeom>
            <a:avLst/>
            <a:gdLst/>
            <a:ahLst/>
            <a:cxnLst/>
            <a:rect l="l" t="t" r="r" b="b"/>
            <a:pathLst>
              <a:path w="3643867" h="1138227">
                <a:moveTo>
                  <a:pt x="0" y="0"/>
                </a:moveTo>
                <a:lnTo>
                  <a:pt x="3643867" y="0"/>
                </a:lnTo>
                <a:lnTo>
                  <a:pt x="3643867" y="1138227"/>
                </a:lnTo>
                <a:lnTo>
                  <a:pt x="0" y="11382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477" b="-477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755965">
            <a:off x="-2596635" y="-6569350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441338" flipH="1">
            <a:off x="-353075" y="2325981"/>
            <a:ext cx="10628218" cy="7071252"/>
          </a:xfrm>
          <a:custGeom>
            <a:avLst/>
            <a:gdLst/>
            <a:ahLst/>
            <a:cxnLst/>
            <a:rect l="l" t="t" r="r" b="b"/>
            <a:pathLst>
              <a:path w="13208272" h="8290545">
                <a:moveTo>
                  <a:pt x="13208272" y="0"/>
                </a:moveTo>
                <a:lnTo>
                  <a:pt x="0" y="0"/>
                </a:lnTo>
                <a:lnTo>
                  <a:pt x="0" y="8290545"/>
                </a:lnTo>
                <a:lnTo>
                  <a:pt x="13208272" y="8290545"/>
                </a:lnTo>
                <a:lnTo>
                  <a:pt x="1320827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10101395" flipH="1">
            <a:off x="12073620" y="-2429023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9743832" y="0"/>
                </a:moveTo>
                <a:lnTo>
                  <a:pt x="0" y="0"/>
                </a:lnTo>
                <a:lnTo>
                  <a:pt x="0" y="10202965"/>
                </a:lnTo>
                <a:lnTo>
                  <a:pt x="9743832" y="10202965"/>
                </a:lnTo>
                <a:lnTo>
                  <a:pt x="974383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441338">
            <a:off x="8756565" y="3877276"/>
            <a:ext cx="10030305" cy="7148438"/>
          </a:xfrm>
          <a:custGeom>
            <a:avLst/>
            <a:gdLst/>
            <a:ahLst/>
            <a:cxnLst/>
            <a:rect l="l" t="t" r="r" b="b"/>
            <a:pathLst>
              <a:path w="11462336" h="7194659">
                <a:moveTo>
                  <a:pt x="0" y="0"/>
                </a:moveTo>
                <a:lnTo>
                  <a:pt x="11462336" y="0"/>
                </a:lnTo>
                <a:lnTo>
                  <a:pt x="11462336" y="7194659"/>
                </a:lnTo>
                <a:lnTo>
                  <a:pt x="0" y="71946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0210800" y="6998583"/>
            <a:ext cx="7764765" cy="1217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>
              <a:lnSpc>
                <a:spcPts val="3234"/>
              </a:lnSpc>
              <a:buFont typeface="Arial" panose="020B0604020202020204" pitchFamily="34" charset="0"/>
              <a:buChar char="•"/>
            </a:pPr>
            <a:r>
              <a:rPr lang="en-US" sz="2310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MedRAG</a:t>
            </a:r>
            <a:r>
              <a:rPr lang="en-US" sz="231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shows that medical AI can be fast, trustworthy, and grounded in real documents — not guesses.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627179" y="6062643"/>
            <a:ext cx="6106618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 dirty="0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FINAL TAKEAWAY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1925" y="5143500"/>
            <a:ext cx="8139473" cy="2030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98206" lvl="1" indent="-249103" algn="l">
              <a:lnSpc>
                <a:spcPts val="3230"/>
              </a:lnSpc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Medical knowledge shouldn’t hide inside long PDFs — it should be accessible, accurate, and immediate</a:t>
            </a:r>
          </a:p>
          <a:p>
            <a:pPr marL="249103" lvl="1" algn="l">
              <a:lnSpc>
                <a:spcPts val="3230"/>
              </a:lnSpc>
            </a:pPr>
            <a:endParaRPr lang="en-US" sz="2400" dirty="0">
              <a:solidFill>
                <a:schemeClr val="bg1"/>
              </a:solidFill>
            </a:endParaRPr>
          </a:p>
          <a:p>
            <a:pPr marL="498206" lvl="1" indent="-249103" algn="l">
              <a:lnSpc>
                <a:spcPts val="3230"/>
              </a:lnSpc>
              <a:buFont typeface="Arial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MedRAG</a:t>
            </a:r>
            <a:r>
              <a:rPr lang="en-US" sz="2400" dirty="0">
                <a:solidFill>
                  <a:schemeClr val="bg1"/>
                </a:solidFill>
              </a:rPr>
              <a:t> brings structure, safety, and clarity to medical information retrieval.</a:t>
            </a:r>
            <a:endParaRPr lang="en-US" sz="2307" dirty="0">
              <a:solidFill>
                <a:schemeClr val="bg1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588838" y="4189640"/>
            <a:ext cx="6106618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 dirty="0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CONCLUSION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191913" y="876300"/>
            <a:ext cx="10218327" cy="1217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 b="1" dirty="0">
                <a:solidFill>
                  <a:srgbClr val="3B365F"/>
                </a:solidFill>
                <a:latin typeface="Century" panose="02040604050505020304" pitchFamily="18" charset="0"/>
                <a:ea typeface="TAN Headline"/>
                <a:cs typeface="TAN Headline"/>
                <a:sym typeface="TAN Headline"/>
              </a:rPr>
              <a:t>Conclusion</a:t>
            </a:r>
          </a:p>
        </p:txBody>
      </p:sp>
      <p:sp>
        <p:nvSpPr>
          <p:cNvPr id="11" name="Freeform 11"/>
          <p:cNvSpPr/>
          <p:nvPr/>
        </p:nvSpPr>
        <p:spPr>
          <a:xfrm>
            <a:off x="0" y="0"/>
            <a:ext cx="3643867" cy="1138227"/>
          </a:xfrm>
          <a:custGeom>
            <a:avLst/>
            <a:gdLst/>
            <a:ahLst/>
            <a:cxnLst/>
            <a:rect l="l" t="t" r="r" b="b"/>
            <a:pathLst>
              <a:path w="3643867" h="1138227">
                <a:moveTo>
                  <a:pt x="0" y="0"/>
                </a:moveTo>
                <a:lnTo>
                  <a:pt x="3643867" y="0"/>
                </a:lnTo>
                <a:lnTo>
                  <a:pt x="3643867" y="1138227"/>
                </a:lnTo>
                <a:lnTo>
                  <a:pt x="0" y="11382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477" b="-477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473</Words>
  <Application>Microsoft Macintosh PowerPoint</Application>
  <PresentationFormat>Custom</PresentationFormat>
  <Paragraphs>96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2" baseType="lpstr">
      <vt:lpstr>Montserrat Bold</vt:lpstr>
      <vt:lpstr>Montserrat</vt:lpstr>
      <vt:lpstr>Arial</vt:lpstr>
      <vt:lpstr>Canva Sans Bold</vt:lpstr>
      <vt:lpstr>Canva Sans</vt:lpstr>
      <vt:lpstr>Poppins Medium</vt:lpstr>
      <vt:lpstr>TAN Headline</vt:lpstr>
      <vt:lpstr>Calibri</vt:lpstr>
      <vt:lpstr>Century</vt:lpstr>
      <vt:lpstr>Poppins Light</vt:lpstr>
      <vt:lpstr>Montserrat Ultra-Bold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 Research Assistant (MedRAG)</dc:title>
  <cp:lastModifiedBy>Supriya Singh</cp:lastModifiedBy>
  <cp:revision>3</cp:revision>
  <dcterms:created xsi:type="dcterms:W3CDTF">2006-08-16T00:00:00Z</dcterms:created>
  <dcterms:modified xsi:type="dcterms:W3CDTF">2025-12-10T04:08:21Z</dcterms:modified>
  <dc:identifier>DAG7DRL_qFk</dc:identifier>
</cp:coreProperties>
</file>